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8" r:id="rId19"/>
    <p:sldId id="269" r:id="rId20"/>
    <p:sldId id="258" r:id="rId4"/>
    <p:sldId id="259" r:id="rId5"/>
    <p:sldId id="260" r:id="rId6"/>
    <p:sldId id="261" r:id="rId7"/>
    <p:sldId id="270" r:id="rId21"/>
    <p:sldId id="262" r:id="rId8"/>
    <p:sldId id="263" r:id="rId9"/>
    <p:sldId id="264" r:id="rId10"/>
    <p:sldId id="265" r:id="rId11"/>
    <p:sldId id="266" r:id="rId12"/>
    <p:sldId id="267" r:id="rId13"/>
    <p:sldId id="271" r:id="rId22"/>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 redesigned the CPAP exhalation path. One design change, the expiratory pressure relief valve, gives two measurable wins: easier exhalation and a quieter 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OSA is anatomical, not a weight problem. CPAP is the standard fix but it has real comfort limitations, which is where we focus. Note: obesity is a major risk factor, but OSA is not limited to high BMI.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known limitations. We chose two that share one root cause in the exhalation pressure, so one fix addresses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user of the exact device. His words justify our target and keep us honest on noise. His machine has EPR, so we are quantifying and improving a real feature, not inventing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valve only acts on exhalation. Inhalation pressure is unchanged, so the airway is still splinted open and therapy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is inhalation, full pressure to splint the airway. Red is exhalation: the relief valve lowers pressure and air leaves through the CO2 vent more gently.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RC respiratory model. Parameters match a real AirSense 11 so a reviewer can trace every number. Same breath both runs isolates the device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work-of-breathing loop shrinks. Peak effort down 35 percent, total expiratory work down 28 percent. Ventilation unchanged, so the patient does the same breathing with less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 velocity down 16 percent, turbulence proxy down 30 percent. We are explicit that this is a velocity proxy, not a decibel measurement, and that premium machines are already fairly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valve moves all four numbers the right way. That is the whole argument: a single, buildable change with a measurable, defensible payoff. Note: effort is -P_mus at peak expiratory flow; the percentages depend on the constant-CPAP-offset convention (the absolute 3 cmH2O drop does not).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name the model limits and the clinical tradeoffs from the literature. The relief sweep is the obvious next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vote before revealing 35 percent. It makes our headline result the payoff and gets the room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clip. Point out the red ring where the airway closes, the effort crescendo on the strip, then the arousal. Around the halfway mark CPAP turns on and the airway stays open. Model: Starling-resistor airway plus RC lung, four OSA traits after Eckert 2013. Teaching model, not clinical.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strip is untreated, bottom is CPAP. AHI bands (AASM): under 5 normal, 5-15 mild, 15-30 moderate, 30 or more severe. About 936 million adults aged 30-69 have mild-to-severe OSA worldwide (Benjafield 2019, Lancet Respir Med).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clip reproduces slides 8-10 exactly. At the end the relief is swept 0 to 3 cmH2O: comfort rises while the airway safety margin above Pcrit shrinks, which is the trade-off named in Limitations. Caveat: the effort percentages depend on the constant-CPAP-offset convention of the model; the absolute 3 cmH2O drop at peak flow does not.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If asked, open the live page and use the Model notes button for equations, references and limits.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2.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1.png"/><Relationship Id="rId5" Type="http://schemas.openxmlformats.org/officeDocument/2006/relationships/hyperlink" Target="https://jonnyterrero.github.io/BME-Visualizations/biofluid-mechanics/sleep-apnea-simulation.html" TargetMode="Externa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22960" y="1737360"/>
            <a:ext cx="256032" cy="256032"/>
          </a:xfrm>
          <a:prstGeom prst="ellipse">
            <a:avLst/>
          </a:prstGeom>
          <a:solidFill>
            <a:srgbClr val="2CA58D"/>
          </a:solidFill>
          <a:ln/>
        </p:spPr>
      </p:sp>
      <p:sp>
        <p:nvSpPr>
          <p:cNvPr id="3" name="Text 1"/>
          <p:cNvSpPr txBox="1"/>
          <p:nvPr/>
        </p:nvSpPr>
        <p:spPr>
          <a:xfrm>
            <a:off x="822960" y="2057400"/>
            <a:ext cx="10515600" cy="8229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Rethinking CPAP</a:t>
            </a:r>
            <a:endParaRPr lang="en-US" sz="4600" dirty="0"/>
          </a:p>
        </p:txBody>
      </p:sp>
      <p:sp>
        <p:nvSpPr>
          <p:cNvPr id="4" name="Text 2"/>
          <p:cNvSpPr txBox="1"/>
          <p:nvPr/>
        </p:nvSpPr>
        <p:spPr>
          <a:xfrm>
            <a:off x="822960" y="2971800"/>
            <a:ext cx="10515600" cy="548640"/>
          </a:xfrm>
          <a:prstGeom prst="rect">
            <a:avLst/>
          </a:prstGeom>
          <a:noFill/>
          <a:ln/>
        </p:spPr>
        <p:txBody>
          <a:bodyPr wrap="square" lIns="0" tIns="0" rIns="0" bIns="0" rtlCol="0" anchor="t"/>
          <a:lstStyle/>
          <a:p>
            <a:pPr indent="0" marL="0">
              <a:buNone/>
            </a:pPr>
            <a:r>
              <a:rPr lang="en-US" sz="2200" dirty="0">
                <a:solidFill>
                  <a:srgbClr val="CADCFC"/>
                </a:solidFill>
                <a:latin typeface="Calibri" pitchFamily="34" charset="0"/>
                <a:ea typeface="Calibri" pitchFamily="34" charset="-122"/>
                <a:cs typeface="Calibri" pitchFamily="34" charset="-120"/>
              </a:rPr>
              <a:t>Expiratory Pressure Relief for the CPAP Exhalation Path</a:t>
            </a:r>
            <a:endParaRPr lang="en-US" sz="2200" dirty="0"/>
          </a:p>
        </p:txBody>
      </p:sp>
      <p:sp>
        <p:nvSpPr>
          <p:cNvPr id="5" name="Text 3"/>
          <p:cNvSpPr txBox="1"/>
          <p:nvPr/>
        </p:nvSpPr>
        <p:spPr>
          <a:xfrm>
            <a:off x="822960" y="3611880"/>
            <a:ext cx="10058400" cy="548640"/>
          </a:xfrm>
          <a:prstGeom prst="rect">
            <a:avLst/>
          </a:prstGeom>
          <a:noFill/>
          <a:ln/>
        </p:spPr>
        <p:txBody>
          <a:bodyPr wrap="square" lIns="0" tIns="0" rIns="0" bIns="0" rtlCol="0" anchor="t"/>
          <a:lstStyle/>
          <a:p>
            <a:pPr indent="0" marL="0">
              <a:buNone/>
            </a:pPr>
            <a:r>
              <a:rPr lang="en-US" sz="1400" i="1" dirty="0">
                <a:solidFill>
                  <a:srgbClr val="9FB6C9"/>
                </a:solidFill>
                <a:latin typeface="Calibri" pitchFamily="34" charset="0"/>
                <a:ea typeface="Calibri" pitchFamily="34" charset="-122"/>
                <a:cs typeface="Calibri" pitchFamily="34" charset="-120"/>
              </a:rPr>
              <a:t>A biofluid-mechanics redesign that makes exhaling easier and the vent quieter, from one valve.</a:t>
            </a:r>
            <a:endParaRPr lang="en-US" sz="1400" dirty="0"/>
          </a:p>
        </p:txBody>
      </p:sp>
      <p:sp>
        <p:nvSpPr>
          <p:cNvPr id="6" name="Text 4"/>
          <p:cNvSpPr txBox="1"/>
          <p:nvPr/>
        </p:nvSpPr>
        <p:spPr>
          <a:xfrm>
            <a:off x="822960" y="5806440"/>
            <a:ext cx="10515600" cy="365760"/>
          </a:xfrm>
          <a:prstGeom prst="rect">
            <a:avLst/>
          </a:prstGeom>
          <a:noFill/>
          <a:ln/>
        </p:spPr>
        <p:txBody>
          <a:bodyPr wrap="square" lIns="0" tIns="0" rIns="0" bIns="0" rtlCol="0" anchor="t"/>
          <a:lstStyle/>
          <a:p>
            <a:pPr indent="0" marL="0">
              <a:buNone/>
            </a:pPr>
            <a:r>
              <a:rPr lang="en-US" sz="1300" dirty="0">
                <a:solidFill>
                  <a:srgbClr val="7E93A2"/>
                </a:solidFill>
                <a:latin typeface="Calibri" pitchFamily="34" charset="0"/>
                <a:ea typeface="Calibri" pitchFamily="34" charset="-122"/>
                <a:cs typeface="Calibri" pitchFamily="34" charset="-120"/>
              </a:rPr>
              <a:t>Group 10   ·   BME 3261C Biofluid Mechanics   ·   Respiratory Flow Device Design Challenge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txBody>
          <a:bodyPr/>
          <a:p/>
        </p:txBody>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The Problem: Obstructive Sleep Apnea</a:t>
            </a:r>
            <a:endParaRPr lang="en-US" sz="3000" dirty="0"/>
          </a:p>
        </p:txBody>
      </p:sp>
      <p:sp>
        <p:nvSpPr>
          <p:cNvPr id="4" name="Text 2"/>
          <p:cNvSpPr txBox="1"/>
          <p:nvPr/>
        </p:nvSpPr>
        <p:spPr>
          <a:xfrm>
            <a:off x="731520" y="1371600"/>
            <a:ext cx="5852160" cy="2377440"/>
          </a:xfrm>
          <a:prstGeom prst="rect">
            <a:avLst/>
          </a:prstGeom>
          <a:noFill/>
          <a:ln/>
        </p:spPr>
        <p:txBody>
          <a:bodyPr wrap="square" lIns="0" tIns="0" rIns="0" bIns="0" rtlCol="0" anchor="t"/>
          <a:lstStyle/>
          <a:p>
            <a:pPr indent="0" marL="0">
              <a:spcAft>
                <a:spcPts val="1000"/>
              </a:spcAft>
              <a:buNone/>
            </a:pPr>
            <a:r>
              <a:rPr lang="en-US" sz="1500" dirty="0">
                <a:solidFill>
                  <a:srgbClr val="15303F"/>
                </a:solidFill>
                <a:latin typeface="Calibri" pitchFamily="34" charset="0"/>
                <a:ea typeface="Calibri" pitchFamily="34" charset="-122"/>
                <a:cs typeface="Calibri" pitchFamily="34" charset="-120"/>
              </a:rPr>
              <a:t>OSA is a disorder where the upper airway repeatedly collapses during sleep, so breathing stops and starts. CPAP is the standard treatment: it delivers pressurized air to splint the airway open.</a:t>
            </a:r>
            <a:endParaRPr lang="en-US" sz="1500" dirty="0"/>
          </a:p>
          <a:p>
            <a:pPr marL="203200" indent="-203200">
              <a:buSzPct val="100000"/>
              <a:buChar char="•"/>
            </a:pPr>
            <a:r>
              <a:rPr lang="en-US" sz="1400" dirty="0">
                <a:solidFill>
                  <a:srgbClr val="15303F"/>
                </a:solidFill>
                <a:latin typeface="Calibri" pitchFamily="34" charset="0"/>
                <a:ea typeface="Calibri" pitchFamily="34" charset="-122"/>
                <a:cs typeface="Calibri" pitchFamily="34" charset="-120"/>
              </a:rPr>
              <a:t>Repeated breathing pauses, gasping, and daytime fatigue</a:t>
            </a:r>
            <a:endParaRPr lang="en-US" sz="1500" dirty="0"/>
          </a:p>
          <a:p>
            <a:pPr marL="203200" indent="-203200">
              <a:buSzPct val="100000"/>
              <a:buChar char="•"/>
            </a:pPr>
            <a:r>
              <a:rPr lang="en-US" sz="1400" dirty="0">
                <a:solidFill>
                  <a:srgbClr val="15303F"/>
                </a:solidFill>
                <a:latin typeface="Calibri" pitchFamily="34" charset="0"/>
                <a:ea typeface="Calibri" pitchFamily="34" charset="-122"/>
                <a:cs typeface="Calibri" pitchFamily="34" charset="-120"/>
              </a:rPr>
              <a:t>Driven by airway anatomy, not body weight</a:t>
            </a:r>
            <a:endParaRPr lang="en-US" sz="1500" dirty="0"/>
          </a:p>
        </p:txBody>
      </p:sp>
      <p:sp>
        <p:nvSpPr>
          <p:cNvPr id="5" name="Shape 3"/>
          <p:cNvSpPr/>
          <p:nvPr/>
        </p:nvSpPr>
        <p:spPr>
          <a:xfrm>
            <a:off x="731520" y="3977640"/>
            <a:ext cx="5852160" cy="1645920"/>
          </a:xfrm>
          <a:prstGeom prst="roundRect">
            <a:avLst>
              <a:gd name="adj" fmla="val 5000"/>
            </a:avLst>
          </a:prstGeom>
          <a:solidFill>
            <a:srgbClr val="EEF4F8"/>
          </a:solidFill>
          <a:ln w="12700">
            <a:solidFill>
              <a:srgbClr val="D6E2EA"/>
            </a:solidFill>
            <a:prstDash val="solid"/>
          </a:ln>
          <a:effectLst>
            <a:outerShdw sx="100000" sy="100000" kx="0" ky="0" algn="bl" rotWithShape="0" blurRad="76200" dist="25400" dir="5400000">
              <a:srgbClr val="8AA0AE">
                <a:alpha val="35000"/>
              </a:srgbClr>
            </a:outerShdw>
          </a:effectLst>
        </p:spPr>
        <p:txBody>
          <a:bodyPr/>
          <a:p/>
        </p:txBody>
      </p:sp>
      <p:sp>
        <p:nvSpPr>
          <p:cNvPr id="6" name="Text 4"/>
          <p:cNvSpPr txBox="1"/>
          <p:nvPr/>
        </p:nvSpPr>
        <p:spPr>
          <a:xfrm>
            <a:off x="960120" y="4160520"/>
            <a:ext cx="5486400" cy="502920"/>
          </a:xfrm>
          <a:prstGeom prst="rect">
            <a:avLst/>
          </a:prstGeom>
          <a:noFill/>
          <a:ln/>
        </p:spPr>
        <p:txBody>
          <a:bodyPr wrap="square" lIns="0" tIns="0" rIns="0" bIns="0" rtlCol="0" anchor="t"/>
          <a:lstStyle/>
          <a:p>
            <a:pPr indent="0" marL="0">
              <a:buNone/>
            </a:pPr>
            <a:r>
              <a:rPr lang="en-US" sz="2400" b="1" dirty="0">
                <a:solidFill>
                  <a:srgbClr val="065A82"/>
                </a:solidFill>
                <a:latin typeface="Cambria" pitchFamily="34" charset="0"/>
                <a:ea typeface="Cambria" pitchFamily="34" charset="-122"/>
                <a:cs typeface="Cambria" pitchFamily="34" charset="-120"/>
              </a:rPr>
              <a:t>Not limited to high BMI</a:t>
            </a:r>
            <a:endParaRPr lang="en-US" sz="2400" dirty="0"/>
          </a:p>
        </p:txBody>
      </p:sp>
      <p:sp>
        <p:nvSpPr>
          <p:cNvPr id="7" name="Text 5"/>
          <p:cNvSpPr txBox="1"/>
          <p:nvPr/>
        </p:nvSpPr>
        <p:spPr>
          <a:xfrm>
            <a:off x="960120" y="4709160"/>
            <a:ext cx="5486400" cy="822960"/>
          </a:xfrm>
          <a:prstGeom prst="rect">
            <a:avLst/>
          </a:prstGeom>
          <a:noFill/>
          <a:ln/>
        </p:spPr>
        <p:txBody>
          <a:bodyPr wrap="square" lIns="0" tIns="0" rIns="0" bIns="0" rtlCol="0" anchor="t"/>
          <a:lstStyle/>
          <a:p>
            <a:pPr indent="0" marL="0">
              <a:buNone/>
            </a:pPr>
            <a:r>
              <a:rPr lang="en-US" sz="1300" dirty="0">
                <a:solidFill>
                  <a:srgbClr val="5A6B78"/>
                </a:solidFill>
                <a:latin typeface="Calibri" pitchFamily="34" charset="0"/>
                <a:ea typeface="Calibri" pitchFamily="34" charset="-122"/>
                <a:cs typeface="Calibri" pitchFamily="34" charset="-120"/>
              </a:rPr>
              <a:t>Obesity raises risk, but OSA also affects lean, athletic people. Airway anatomy and muscle control matter too.</a:t>
            </a:r>
            <a:endParaRPr lang="en-US" sz="1300" dirty="0"/>
          </a:p>
        </p:txBody>
      </p:sp>
      <p:sp>
        <p:nvSpPr>
          <p:cNvPr id="8" name="Shape 6"/>
          <p:cNvSpPr/>
          <p:nvPr/>
        </p:nvSpPr>
        <p:spPr>
          <a:xfrm>
            <a:off x="6986016" y="1408176"/>
            <a:ext cx="4681728" cy="2651760"/>
          </a:xfrm>
          <a:prstGeom prst="roundRect">
            <a:avLst>
              <a:gd name="adj" fmla="val 2069"/>
            </a:avLst>
          </a:prstGeom>
          <a:solidFill>
            <a:srgbClr val="FFFFFF"/>
          </a:solidFill>
          <a:ln w="12700">
            <a:solidFill>
              <a:srgbClr val="D6E2EA"/>
            </a:solidFill>
            <a:prstDash val="solid"/>
          </a:ln>
          <a:effectLst>
            <a:outerShdw sx="100000" sy="100000" kx="0" ky="0" algn="bl" rotWithShape="0" blurRad="101600" dist="38100" dir="5400000">
              <a:srgbClr val="7E93A2">
                <a:alpha val="40000"/>
              </a:srgbClr>
            </a:outerShdw>
          </a:effectLst>
        </p:spPr>
        <p:txBody>
          <a:bodyPr/>
          <a:p/>
        </p:txBody>
      </p:sp>
      <p:pic>
        <p:nvPicPr>
          <p:cNvPr id="9" name="Image 0" descr="cpap_photo.png">    </p:cNvPr>
          <p:cNvPicPr>
            <a:picLocks noChangeAspect="1"/>
          </p:cNvPicPr>
          <p:nvPr/>
        </p:nvPicPr>
        <p:blipFill>
          <a:blip r:embed="rId1"/>
          <a:stretch>
            <a:fillRect/>
          </a:stretch>
        </p:blipFill>
        <p:spPr>
          <a:xfrm>
            <a:off x="7040880" y="1463040"/>
            <a:ext cx="4572000" cy="2542032"/>
          </a:xfrm>
          <a:prstGeom prst="rect">
            <a:avLst/>
          </a:prstGeom>
        </p:spPr>
      </p:pic>
      <p:sp>
        <p:nvSpPr>
          <p:cNvPr id="10" name="Text 7"/>
          <p:cNvSpPr txBox="1"/>
          <p:nvPr/>
        </p:nvSpPr>
        <p:spPr>
          <a:xfrm>
            <a:off x="7040880" y="4114800"/>
            <a:ext cx="4572000" cy="365760"/>
          </a:xfrm>
          <a:prstGeom prst="rect">
            <a:avLst/>
          </a:prstGeom>
          <a:noFill/>
          <a:ln/>
        </p:spPr>
        <p:txBody>
          <a:bodyPr wrap="square" lIns="0" tIns="0" rIns="0" bIns="0" rtlCol="0" anchor="t"/>
          <a:lstStyle/>
          <a:p>
            <a:pPr algn="ctr" indent="0" marL="0">
              <a:buNone/>
            </a:pPr>
            <a:r>
              <a:rPr lang="en-US" sz="1150" i="1" dirty="0">
                <a:solidFill>
                  <a:srgbClr val="5A6B78"/>
                </a:solidFill>
                <a:latin typeface="Calibri" pitchFamily="34" charset="0"/>
                <a:ea typeface="Calibri" pitchFamily="34" charset="-122"/>
                <a:cs typeface="Calibri" pitchFamily="34" charset="-120"/>
              </a:rPr>
              <a:t>Standard CPAP setup: blower, tube, and mask.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Where Current CPAP Falls Short</a:t>
            </a:r>
            <a:endParaRPr lang="en-US" sz="3000" dirty="0"/>
          </a:p>
        </p:txBody>
      </p:sp>
      <p:sp>
        <p:nvSpPr>
          <p:cNvPr id="4" name="Shape 2"/>
          <p:cNvSpPr/>
          <p:nvPr/>
        </p:nvSpPr>
        <p:spPr>
          <a:xfrm>
            <a:off x="731520" y="1417320"/>
            <a:ext cx="356616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5" name="Text 3"/>
          <p:cNvSpPr txBox="1"/>
          <p:nvPr/>
        </p:nvSpPr>
        <p:spPr>
          <a:xfrm>
            <a:off x="914400" y="1545336"/>
            <a:ext cx="3200400" cy="365760"/>
          </a:xfrm>
          <a:prstGeom prst="rect">
            <a:avLst/>
          </a:prstGeom>
          <a:noFill/>
          <a:ln/>
        </p:spPr>
        <p:txBody>
          <a:bodyPr wrap="square" lIns="0" tIns="0" rIns="0" bIns="0" rtlCol="0" anchor="t"/>
          <a:lstStyle/>
          <a:p>
            <a:pPr indent="0" marL="0">
              <a:buNone/>
            </a:pPr>
            <a:r>
              <a:rPr lang="en-US" sz="1500" b="1" dirty="0">
                <a:solidFill>
                  <a:srgbClr val="5A6B78"/>
                </a:solidFill>
                <a:latin typeface="Cambria" pitchFamily="34" charset="0"/>
                <a:ea typeface="Cambria" pitchFamily="34" charset="-122"/>
                <a:cs typeface="Cambria" pitchFamily="34" charset="-120"/>
              </a:rPr>
              <a:t>Discomfort</a:t>
            </a:r>
            <a:endParaRPr lang="en-US" sz="1500" dirty="0"/>
          </a:p>
        </p:txBody>
      </p:sp>
      <p:sp>
        <p:nvSpPr>
          <p:cNvPr id="6" name="Text 4"/>
          <p:cNvSpPr txBox="1"/>
          <p:nvPr/>
        </p:nvSpPr>
        <p:spPr>
          <a:xfrm>
            <a:off x="914400" y="1892808"/>
            <a:ext cx="3200400" cy="320040"/>
          </a:xfrm>
          <a:prstGeom prst="rect">
            <a:avLst/>
          </a:prstGeom>
          <a:noFill/>
          <a:ln/>
        </p:spPr>
        <p:txBody>
          <a:bodyPr wrap="square" lIns="0" tIns="0" rIns="0" bIns="0" rtlCol="0" anchor="t"/>
          <a:lstStyle/>
          <a:p>
            <a:pPr indent="0" marL="0">
              <a:buNone/>
            </a:pPr>
            <a:r>
              <a:rPr lang="en-US" sz="1150" dirty="0">
                <a:solidFill>
                  <a:srgbClr val="5A6B78"/>
                </a:solidFill>
                <a:latin typeface="Calibri" pitchFamily="34" charset="0"/>
                <a:ea typeface="Calibri" pitchFamily="34" charset="-122"/>
                <a:cs typeface="Calibri" pitchFamily="34" charset="-120"/>
              </a:rPr>
              <a:t>Masks and straps irritate</a:t>
            </a:r>
            <a:endParaRPr lang="en-US" sz="1150" dirty="0"/>
          </a:p>
        </p:txBody>
      </p:sp>
      <p:sp>
        <p:nvSpPr>
          <p:cNvPr id="7" name="Shape 5"/>
          <p:cNvSpPr/>
          <p:nvPr/>
        </p:nvSpPr>
        <p:spPr>
          <a:xfrm>
            <a:off x="4526280" y="1417320"/>
            <a:ext cx="356616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8" name="Text 6"/>
          <p:cNvSpPr txBox="1"/>
          <p:nvPr/>
        </p:nvSpPr>
        <p:spPr>
          <a:xfrm>
            <a:off x="4709160" y="1545336"/>
            <a:ext cx="3200400" cy="365760"/>
          </a:xfrm>
          <a:prstGeom prst="rect">
            <a:avLst/>
          </a:prstGeom>
          <a:noFill/>
          <a:ln/>
        </p:spPr>
        <p:txBody>
          <a:bodyPr wrap="square" lIns="0" tIns="0" rIns="0" bIns="0" rtlCol="0" anchor="t"/>
          <a:lstStyle/>
          <a:p>
            <a:pPr indent="0" marL="0">
              <a:buNone/>
            </a:pPr>
            <a:r>
              <a:rPr lang="en-US" sz="1500" b="1" dirty="0">
                <a:solidFill>
                  <a:srgbClr val="5A6B78"/>
                </a:solidFill>
                <a:latin typeface="Cambria" pitchFamily="34" charset="0"/>
                <a:ea typeface="Cambria" pitchFamily="34" charset="-122"/>
                <a:cs typeface="Cambria" pitchFamily="34" charset="-120"/>
              </a:rPr>
              <a:t>Air leaks</a:t>
            </a:r>
            <a:endParaRPr lang="en-US" sz="1500" dirty="0"/>
          </a:p>
        </p:txBody>
      </p:sp>
      <p:sp>
        <p:nvSpPr>
          <p:cNvPr id="9" name="Text 7"/>
          <p:cNvSpPr txBox="1"/>
          <p:nvPr/>
        </p:nvSpPr>
        <p:spPr>
          <a:xfrm>
            <a:off x="4709160" y="1892808"/>
            <a:ext cx="3200400" cy="320040"/>
          </a:xfrm>
          <a:prstGeom prst="rect">
            <a:avLst/>
          </a:prstGeom>
          <a:noFill/>
          <a:ln/>
        </p:spPr>
        <p:txBody>
          <a:bodyPr wrap="square" lIns="0" tIns="0" rIns="0" bIns="0" rtlCol="0" anchor="t"/>
          <a:lstStyle/>
          <a:p>
            <a:pPr indent="0" marL="0">
              <a:buNone/>
            </a:pPr>
            <a:r>
              <a:rPr lang="en-US" sz="1150" dirty="0">
                <a:solidFill>
                  <a:srgbClr val="5A6B78"/>
                </a:solidFill>
                <a:latin typeface="Calibri" pitchFamily="34" charset="0"/>
                <a:ea typeface="Calibri" pitchFamily="34" charset="-122"/>
                <a:cs typeface="Calibri" pitchFamily="34" charset="-120"/>
              </a:rPr>
              <a:t>Poor seal cuts effectiveness</a:t>
            </a:r>
            <a:endParaRPr lang="en-US" sz="1150" dirty="0"/>
          </a:p>
        </p:txBody>
      </p:sp>
      <p:sp>
        <p:nvSpPr>
          <p:cNvPr id="10" name="Shape 8"/>
          <p:cNvSpPr/>
          <p:nvPr/>
        </p:nvSpPr>
        <p:spPr>
          <a:xfrm>
            <a:off x="8321040" y="1417320"/>
            <a:ext cx="356616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11" name="Text 9"/>
          <p:cNvSpPr txBox="1"/>
          <p:nvPr/>
        </p:nvSpPr>
        <p:spPr>
          <a:xfrm>
            <a:off x="8503920" y="1545336"/>
            <a:ext cx="3200400" cy="365760"/>
          </a:xfrm>
          <a:prstGeom prst="rect">
            <a:avLst/>
          </a:prstGeom>
          <a:noFill/>
          <a:ln/>
        </p:spPr>
        <p:txBody>
          <a:bodyPr wrap="square" lIns="0" tIns="0" rIns="0" bIns="0" rtlCol="0" anchor="t"/>
          <a:lstStyle/>
          <a:p>
            <a:pPr indent="0" marL="0">
              <a:buNone/>
            </a:pPr>
            <a:r>
              <a:rPr lang="en-US" sz="1500" b="1" dirty="0">
                <a:solidFill>
                  <a:srgbClr val="5A6B78"/>
                </a:solidFill>
                <a:latin typeface="Cambria" pitchFamily="34" charset="0"/>
                <a:ea typeface="Cambria" pitchFamily="34" charset="-122"/>
                <a:cs typeface="Cambria" pitchFamily="34" charset="-120"/>
              </a:rPr>
              <a:t>Dryness</a:t>
            </a:r>
            <a:endParaRPr lang="en-US" sz="1500" dirty="0"/>
          </a:p>
        </p:txBody>
      </p:sp>
      <p:sp>
        <p:nvSpPr>
          <p:cNvPr id="12" name="Text 10"/>
          <p:cNvSpPr txBox="1"/>
          <p:nvPr/>
        </p:nvSpPr>
        <p:spPr>
          <a:xfrm>
            <a:off x="8503920" y="1892808"/>
            <a:ext cx="3200400" cy="320040"/>
          </a:xfrm>
          <a:prstGeom prst="rect">
            <a:avLst/>
          </a:prstGeom>
          <a:noFill/>
          <a:ln/>
        </p:spPr>
        <p:txBody>
          <a:bodyPr wrap="square" lIns="0" tIns="0" rIns="0" bIns="0" rtlCol="0" anchor="t"/>
          <a:lstStyle/>
          <a:p>
            <a:pPr indent="0" marL="0">
              <a:buNone/>
            </a:pPr>
            <a:r>
              <a:rPr lang="en-US" sz="1150" dirty="0">
                <a:solidFill>
                  <a:srgbClr val="5A6B78"/>
                </a:solidFill>
                <a:latin typeface="Calibri" pitchFamily="34" charset="0"/>
                <a:ea typeface="Calibri" pitchFamily="34" charset="-122"/>
                <a:cs typeface="Calibri" pitchFamily="34" charset="-120"/>
              </a:rPr>
              <a:t>Constant flow dries airways</a:t>
            </a:r>
            <a:endParaRPr lang="en-US" sz="1150" dirty="0"/>
          </a:p>
        </p:txBody>
      </p:sp>
      <p:sp>
        <p:nvSpPr>
          <p:cNvPr id="13" name="Shape 11"/>
          <p:cNvSpPr/>
          <p:nvPr/>
        </p:nvSpPr>
        <p:spPr>
          <a:xfrm>
            <a:off x="731520" y="2468880"/>
            <a:ext cx="356616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14" name="Text 12"/>
          <p:cNvSpPr txBox="1"/>
          <p:nvPr/>
        </p:nvSpPr>
        <p:spPr>
          <a:xfrm>
            <a:off x="914400" y="2596896"/>
            <a:ext cx="3200400" cy="365760"/>
          </a:xfrm>
          <a:prstGeom prst="rect">
            <a:avLst/>
          </a:prstGeom>
          <a:noFill/>
          <a:ln/>
        </p:spPr>
        <p:txBody>
          <a:bodyPr wrap="square" lIns="0" tIns="0" rIns="0" bIns="0" rtlCol="0" anchor="t"/>
          <a:lstStyle/>
          <a:p>
            <a:pPr indent="0" marL="0">
              <a:buNone/>
            </a:pPr>
            <a:r>
              <a:rPr lang="en-US" sz="1500" b="1" dirty="0">
                <a:solidFill>
                  <a:srgbClr val="5A6B78"/>
                </a:solidFill>
                <a:latin typeface="Cambria" pitchFamily="34" charset="0"/>
                <a:ea typeface="Cambria" pitchFamily="34" charset="-122"/>
                <a:cs typeface="Cambria" pitchFamily="34" charset="-120"/>
              </a:rPr>
              <a:t>Portability</a:t>
            </a:r>
            <a:endParaRPr lang="en-US" sz="1500" dirty="0"/>
          </a:p>
        </p:txBody>
      </p:sp>
      <p:sp>
        <p:nvSpPr>
          <p:cNvPr id="15" name="Text 13"/>
          <p:cNvSpPr txBox="1"/>
          <p:nvPr/>
        </p:nvSpPr>
        <p:spPr>
          <a:xfrm>
            <a:off x="914400" y="2944368"/>
            <a:ext cx="3200400" cy="320040"/>
          </a:xfrm>
          <a:prstGeom prst="rect">
            <a:avLst/>
          </a:prstGeom>
          <a:noFill/>
          <a:ln/>
        </p:spPr>
        <p:txBody>
          <a:bodyPr wrap="square" lIns="0" tIns="0" rIns="0" bIns="0" rtlCol="0" anchor="t"/>
          <a:lstStyle/>
          <a:p>
            <a:pPr indent="0" marL="0">
              <a:buNone/>
            </a:pPr>
            <a:r>
              <a:rPr lang="en-US" sz="1150" dirty="0">
                <a:solidFill>
                  <a:srgbClr val="5A6B78"/>
                </a:solidFill>
                <a:latin typeface="Calibri" pitchFamily="34" charset="0"/>
                <a:ea typeface="Calibri" pitchFamily="34" charset="-122"/>
                <a:cs typeface="Calibri" pitchFamily="34" charset="-120"/>
              </a:rPr>
              <a:t>Bulky to travel with</a:t>
            </a:r>
            <a:endParaRPr lang="en-US" sz="1150" dirty="0"/>
          </a:p>
        </p:txBody>
      </p:sp>
      <p:sp>
        <p:nvSpPr>
          <p:cNvPr id="16" name="Shape 14"/>
          <p:cNvSpPr/>
          <p:nvPr/>
        </p:nvSpPr>
        <p:spPr>
          <a:xfrm>
            <a:off x="4526280" y="2468880"/>
            <a:ext cx="356616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17" name="Text 15"/>
          <p:cNvSpPr txBox="1"/>
          <p:nvPr/>
        </p:nvSpPr>
        <p:spPr>
          <a:xfrm>
            <a:off x="4709160" y="2596896"/>
            <a:ext cx="3200400" cy="365760"/>
          </a:xfrm>
          <a:prstGeom prst="rect">
            <a:avLst/>
          </a:prstGeom>
          <a:noFill/>
          <a:ln/>
        </p:spPr>
        <p:txBody>
          <a:bodyPr wrap="square" lIns="0" tIns="0" rIns="0" bIns="0" rtlCol="0" anchor="t"/>
          <a:lstStyle/>
          <a:p>
            <a:pPr indent="0" marL="0">
              <a:buNone/>
            </a:pPr>
            <a:r>
              <a:rPr lang="en-US" sz="1500" b="1" dirty="0">
                <a:solidFill>
                  <a:srgbClr val="5A6B78"/>
                </a:solidFill>
                <a:latin typeface="Cambria" pitchFamily="34" charset="0"/>
                <a:ea typeface="Cambria" pitchFamily="34" charset="-122"/>
                <a:cs typeface="Cambria" pitchFamily="34" charset="-120"/>
              </a:rPr>
              <a:t>Cost</a:t>
            </a:r>
            <a:endParaRPr lang="en-US" sz="1500" dirty="0"/>
          </a:p>
        </p:txBody>
      </p:sp>
      <p:sp>
        <p:nvSpPr>
          <p:cNvPr id="18" name="Text 16"/>
          <p:cNvSpPr txBox="1"/>
          <p:nvPr/>
        </p:nvSpPr>
        <p:spPr>
          <a:xfrm>
            <a:off x="4709160" y="2944368"/>
            <a:ext cx="3200400" cy="320040"/>
          </a:xfrm>
          <a:prstGeom prst="rect">
            <a:avLst/>
          </a:prstGeom>
          <a:noFill/>
          <a:ln/>
        </p:spPr>
        <p:txBody>
          <a:bodyPr wrap="square" lIns="0" tIns="0" rIns="0" bIns="0" rtlCol="0" anchor="t"/>
          <a:lstStyle/>
          <a:p>
            <a:pPr indent="0" marL="0">
              <a:buNone/>
            </a:pPr>
            <a:r>
              <a:rPr lang="en-US" sz="1150" dirty="0">
                <a:solidFill>
                  <a:srgbClr val="5A6B78"/>
                </a:solidFill>
                <a:latin typeface="Calibri" pitchFamily="34" charset="0"/>
                <a:ea typeface="Calibri" pitchFamily="34" charset="-122"/>
                <a:cs typeface="Calibri" pitchFamily="34" charset="-120"/>
              </a:rPr>
              <a:t>Machine + upkeep add up</a:t>
            </a:r>
            <a:endParaRPr lang="en-US" sz="1150" dirty="0"/>
          </a:p>
        </p:txBody>
      </p:sp>
      <p:sp>
        <p:nvSpPr>
          <p:cNvPr id="19" name="Shape 17"/>
          <p:cNvSpPr/>
          <p:nvPr/>
        </p:nvSpPr>
        <p:spPr>
          <a:xfrm>
            <a:off x="8321040" y="2468880"/>
            <a:ext cx="3566160" cy="868680"/>
          </a:xfrm>
          <a:prstGeom prst="roundRect">
            <a:avLst>
              <a:gd name="adj" fmla="val 9474"/>
            </a:avLst>
          </a:prstGeom>
          <a:solidFill>
            <a:srgbClr val="FFFFFF"/>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20" name="Text 18"/>
          <p:cNvSpPr txBox="1"/>
          <p:nvPr/>
        </p:nvSpPr>
        <p:spPr>
          <a:xfrm>
            <a:off x="8503920" y="2596896"/>
            <a:ext cx="3200400" cy="365760"/>
          </a:xfrm>
          <a:prstGeom prst="rect">
            <a:avLst/>
          </a:prstGeom>
          <a:noFill/>
          <a:ln/>
        </p:spPr>
        <p:txBody>
          <a:bodyPr wrap="square" lIns="0" tIns="0" rIns="0" bIns="0" rtlCol="0" anchor="t"/>
          <a:lstStyle/>
          <a:p>
            <a:pPr indent="0" marL="0">
              <a:buNone/>
            </a:pPr>
            <a:r>
              <a:rPr lang="en-US" sz="1500" b="1" dirty="0">
                <a:solidFill>
                  <a:srgbClr val="5A6B78"/>
                </a:solidFill>
                <a:latin typeface="Cambria" pitchFamily="34" charset="0"/>
                <a:ea typeface="Cambria" pitchFamily="34" charset="-122"/>
                <a:cs typeface="Cambria" pitchFamily="34" charset="-120"/>
              </a:rPr>
              <a:t>Adjustment</a:t>
            </a:r>
            <a:endParaRPr lang="en-US" sz="1500" dirty="0"/>
          </a:p>
        </p:txBody>
      </p:sp>
      <p:sp>
        <p:nvSpPr>
          <p:cNvPr id="21" name="Text 19"/>
          <p:cNvSpPr txBox="1"/>
          <p:nvPr/>
        </p:nvSpPr>
        <p:spPr>
          <a:xfrm>
            <a:off x="8503920" y="2944368"/>
            <a:ext cx="3200400" cy="320040"/>
          </a:xfrm>
          <a:prstGeom prst="rect">
            <a:avLst/>
          </a:prstGeom>
          <a:noFill/>
          <a:ln/>
        </p:spPr>
        <p:txBody>
          <a:bodyPr wrap="square" lIns="0" tIns="0" rIns="0" bIns="0" rtlCol="0" anchor="t"/>
          <a:lstStyle/>
          <a:p>
            <a:pPr indent="0" marL="0">
              <a:buNone/>
            </a:pPr>
            <a:r>
              <a:rPr lang="en-US" sz="1150" dirty="0">
                <a:solidFill>
                  <a:srgbClr val="5A6B78"/>
                </a:solidFill>
                <a:latin typeface="Calibri" pitchFamily="34" charset="0"/>
                <a:ea typeface="Calibri" pitchFamily="34" charset="-122"/>
                <a:cs typeface="Calibri" pitchFamily="34" charset="-120"/>
              </a:rPr>
              <a:t>Takes time to tolerate</a:t>
            </a:r>
            <a:endParaRPr lang="en-US" sz="1150" dirty="0"/>
          </a:p>
        </p:txBody>
      </p:sp>
      <p:sp>
        <p:nvSpPr>
          <p:cNvPr id="22" name="Shape 20"/>
          <p:cNvSpPr/>
          <p:nvPr/>
        </p:nvSpPr>
        <p:spPr>
          <a:xfrm>
            <a:off x="731520" y="3703320"/>
            <a:ext cx="5486400" cy="1828800"/>
          </a:xfrm>
          <a:prstGeom prst="roundRect">
            <a:avLst>
              <a:gd name="adj" fmla="val 4500"/>
            </a:avLst>
          </a:prstGeom>
          <a:solidFill>
            <a:srgbClr val="E7F5F0"/>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23" name="Shape 21"/>
          <p:cNvSpPr/>
          <p:nvPr/>
        </p:nvSpPr>
        <p:spPr>
          <a:xfrm>
            <a:off x="960120" y="3913632"/>
            <a:ext cx="164592" cy="164592"/>
          </a:xfrm>
          <a:prstGeom prst="ellipse">
            <a:avLst/>
          </a:prstGeom>
          <a:solidFill>
            <a:srgbClr val="2CA58D"/>
          </a:solidFill>
          <a:ln/>
        </p:spPr>
      </p:sp>
      <p:sp>
        <p:nvSpPr>
          <p:cNvPr id="24" name="Text 22"/>
          <p:cNvSpPr txBox="1"/>
          <p:nvPr/>
        </p:nvSpPr>
        <p:spPr>
          <a:xfrm>
            <a:off x="1207008" y="3840480"/>
            <a:ext cx="4937760" cy="411480"/>
          </a:xfrm>
          <a:prstGeom prst="rect">
            <a:avLst/>
          </a:prstGeom>
          <a:noFill/>
          <a:ln/>
        </p:spPr>
        <p:txBody>
          <a:bodyPr wrap="square" lIns="0" tIns="0" rIns="0" bIns="0" rtlCol="0" anchor="t"/>
          <a:lstStyle/>
          <a:p>
            <a:pPr indent="0" marL="0">
              <a:buNone/>
            </a:pPr>
            <a:r>
              <a:rPr lang="en-US" sz="1700" b="1" dirty="0">
                <a:solidFill>
                  <a:srgbClr val="2CA58D"/>
                </a:solidFill>
                <a:latin typeface="Cambria" pitchFamily="34" charset="0"/>
                <a:ea typeface="Cambria" pitchFamily="34" charset="-122"/>
                <a:cs typeface="Cambria" pitchFamily="34" charset="-120"/>
              </a:rPr>
              <a:t>We target: Exhalation difficulty</a:t>
            </a:r>
            <a:endParaRPr lang="en-US" sz="1700" dirty="0"/>
          </a:p>
        </p:txBody>
      </p:sp>
      <p:sp>
        <p:nvSpPr>
          <p:cNvPr id="25" name="Text 23"/>
          <p:cNvSpPr txBox="1"/>
          <p:nvPr/>
        </p:nvSpPr>
        <p:spPr>
          <a:xfrm>
            <a:off x="960120" y="4343400"/>
            <a:ext cx="5120640" cy="822960"/>
          </a:xfrm>
          <a:prstGeom prst="rect">
            <a:avLst/>
          </a:prstGeom>
          <a:noFill/>
          <a:ln/>
        </p:spPr>
        <p:txBody>
          <a:bodyPr wrap="square" lIns="0" tIns="0" rIns="0" bIns="0" rtlCol="0" anchor="t"/>
          <a:lstStyle/>
          <a:p>
            <a:pPr indent="0" marL="0">
              <a:buNone/>
            </a:pPr>
            <a:r>
              <a:rPr lang="en-US" sz="1300" dirty="0">
                <a:solidFill>
                  <a:srgbClr val="15303F"/>
                </a:solidFill>
                <a:latin typeface="Calibri" pitchFamily="34" charset="0"/>
                <a:ea typeface="Calibri" pitchFamily="34" charset="-122"/>
                <a:cs typeface="Calibri" pitchFamily="34" charset="-120"/>
              </a:rPr>
              <a:t>Patients must breathe out against constant pressure: often described as "fighting the machine."</a:t>
            </a:r>
            <a:endParaRPr lang="en-US" sz="1300" dirty="0"/>
          </a:p>
        </p:txBody>
      </p:sp>
      <p:sp>
        <p:nvSpPr>
          <p:cNvPr id="26" name="Shape 24"/>
          <p:cNvSpPr/>
          <p:nvPr/>
        </p:nvSpPr>
        <p:spPr>
          <a:xfrm>
            <a:off x="6446520" y="3703320"/>
            <a:ext cx="5029200" cy="1828800"/>
          </a:xfrm>
          <a:prstGeom prst="roundRect">
            <a:avLst>
              <a:gd name="adj" fmla="val 4500"/>
            </a:avLst>
          </a:prstGeom>
          <a:solidFill>
            <a:srgbClr val="E7F5F0"/>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27" name="Shape 25"/>
          <p:cNvSpPr/>
          <p:nvPr/>
        </p:nvSpPr>
        <p:spPr>
          <a:xfrm>
            <a:off x="6675120" y="3913632"/>
            <a:ext cx="164592" cy="164592"/>
          </a:xfrm>
          <a:prstGeom prst="ellipse">
            <a:avLst/>
          </a:prstGeom>
          <a:solidFill>
            <a:srgbClr val="2CA58D"/>
          </a:solidFill>
          <a:ln/>
        </p:spPr>
      </p:sp>
      <p:sp>
        <p:nvSpPr>
          <p:cNvPr id="28" name="Text 26"/>
          <p:cNvSpPr txBox="1"/>
          <p:nvPr/>
        </p:nvSpPr>
        <p:spPr>
          <a:xfrm>
            <a:off x="6922008" y="3840480"/>
            <a:ext cx="4480560" cy="411480"/>
          </a:xfrm>
          <a:prstGeom prst="rect">
            <a:avLst/>
          </a:prstGeom>
          <a:noFill/>
          <a:ln/>
        </p:spPr>
        <p:txBody>
          <a:bodyPr wrap="square" lIns="0" tIns="0" rIns="0" bIns="0" rtlCol="0" anchor="t"/>
          <a:lstStyle/>
          <a:p>
            <a:pPr indent="0" marL="0">
              <a:buNone/>
            </a:pPr>
            <a:r>
              <a:rPr lang="en-US" sz="1700" b="1" dirty="0">
                <a:solidFill>
                  <a:srgbClr val="2CA58D"/>
                </a:solidFill>
                <a:latin typeface="Cambria" pitchFamily="34" charset="0"/>
                <a:ea typeface="Cambria" pitchFamily="34" charset="-122"/>
                <a:cs typeface="Cambria" pitchFamily="34" charset="-120"/>
              </a:rPr>
              <a:t>We target: Noise</a:t>
            </a:r>
            <a:endParaRPr lang="en-US" sz="1700" dirty="0"/>
          </a:p>
        </p:txBody>
      </p:sp>
      <p:sp>
        <p:nvSpPr>
          <p:cNvPr id="29" name="Text 27"/>
          <p:cNvSpPr txBox="1"/>
          <p:nvPr/>
        </p:nvSpPr>
        <p:spPr>
          <a:xfrm>
            <a:off x="6675120" y="4343400"/>
            <a:ext cx="4572000" cy="822960"/>
          </a:xfrm>
          <a:prstGeom prst="rect">
            <a:avLst/>
          </a:prstGeom>
          <a:noFill/>
          <a:ln/>
        </p:spPr>
        <p:txBody>
          <a:bodyPr wrap="square" lIns="0" tIns="0" rIns="0" bIns="0" rtlCol="0" anchor="t"/>
          <a:lstStyle/>
          <a:p>
            <a:pPr indent="0" marL="0">
              <a:buNone/>
            </a:pPr>
            <a:r>
              <a:rPr lang="en-US" sz="1300" dirty="0">
                <a:solidFill>
                  <a:srgbClr val="15303F"/>
                </a:solidFill>
                <a:latin typeface="Calibri" pitchFamily="34" charset="0"/>
                <a:ea typeface="Calibri" pitchFamily="34" charset="-122"/>
                <a:cs typeface="Calibri" pitchFamily="34" charset="-120"/>
              </a:rPr>
              <a:t>The mask vent jet can disturb sleep, especially for a bed partner and at higher pressures.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Primary Source: A CPAP User</a:t>
            </a:r>
            <a:endParaRPr lang="en-US" sz="3000" dirty="0"/>
          </a:p>
        </p:txBody>
      </p:sp>
      <p:sp>
        <p:nvSpPr>
          <p:cNvPr id="4" name="Text 2"/>
          <p:cNvSpPr txBox="1"/>
          <p:nvPr/>
        </p:nvSpPr>
        <p:spPr>
          <a:xfrm>
            <a:off x="731520" y="1371600"/>
            <a:ext cx="10698480" cy="457200"/>
          </a:xfrm>
          <a:prstGeom prst="rect">
            <a:avLst/>
          </a:prstGeom>
          <a:noFill/>
          <a:ln/>
        </p:spPr>
        <p:txBody>
          <a:bodyPr wrap="square" lIns="0" tIns="0" rIns="0" bIns="0" rtlCol="0" anchor="t"/>
          <a:lstStyle/>
          <a:p>
            <a:pPr indent="0" marL="0">
              <a:buNone/>
            </a:pPr>
            <a:r>
              <a:rPr lang="en-US" sz="1500" dirty="0">
                <a:solidFill>
                  <a:srgbClr val="15303F"/>
                </a:solidFill>
                <a:latin typeface="Calibri" pitchFamily="34" charset="0"/>
                <a:ea typeface="Calibri" pitchFamily="34" charset="-122"/>
                <a:cs typeface="Calibri" pitchFamily="34" charset="-120"/>
              </a:rPr>
              <a:t>We interviewed a daily user of the </a:t>
            </a:r>
            <a:pPr indent="0" marL="0">
              <a:buNone/>
            </a:pPr>
            <a:r>
              <a:rPr lang="en-US" sz="1500" b="1" dirty="0">
                <a:solidFill>
                  <a:srgbClr val="065A82"/>
                </a:solidFill>
                <a:latin typeface="Calibri" pitchFamily="34" charset="0"/>
                <a:ea typeface="Calibri" pitchFamily="34" charset="-122"/>
                <a:cs typeface="Calibri" pitchFamily="34" charset="-120"/>
              </a:rPr>
              <a:t>ResMed AirSense 11</a:t>
            </a:r>
            <a:pPr indent="0" marL="0">
              <a:buNone/>
            </a:pPr>
            <a:r>
              <a:rPr lang="en-US" sz="1500" dirty="0">
                <a:solidFill>
                  <a:srgbClr val="15303F"/>
                </a:solidFill>
                <a:latin typeface="Calibri" pitchFamily="34" charset="0"/>
                <a:ea typeface="Calibri" pitchFamily="34" charset="-122"/>
                <a:cs typeface="Calibri" pitchFamily="34" charset="-120"/>
              </a:rPr>
              <a:t>. Three findings shaped our scope:</a:t>
            </a:r>
            <a:endParaRPr lang="en-US" sz="1500" dirty="0"/>
          </a:p>
        </p:txBody>
      </p:sp>
      <p:sp>
        <p:nvSpPr>
          <p:cNvPr id="5" name="Shape 3"/>
          <p:cNvSpPr/>
          <p:nvPr/>
        </p:nvSpPr>
        <p:spPr>
          <a:xfrm>
            <a:off x="731520" y="1965960"/>
            <a:ext cx="10698480" cy="1097280"/>
          </a:xfrm>
          <a:prstGeom prst="roundRect">
            <a:avLst>
              <a:gd name="adj" fmla="val 7500"/>
            </a:avLst>
          </a:prstGeom>
          <a:solidFill>
            <a:srgbClr val="EEF4F8"/>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6" name="Text 4"/>
          <p:cNvSpPr txBox="1"/>
          <p:nvPr/>
        </p:nvSpPr>
        <p:spPr>
          <a:xfrm>
            <a:off x="960120" y="2112264"/>
            <a:ext cx="4937760" cy="822960"/>
          </a:xfrm>
          <a:prstGeom prst="rect">
            <a:avLst/>
          </a:prstGeom>
          <a:noFill/>
          <a:ln/>
        </p:spPr>
        <p:txBody>
          <a:bodyPr wrap="square" lIns="0" tIns="0" rIns="0" bIns="0" rtlCol="0" anchor="ctr"/>
          <a:lstStyle/>
          <a:p>
            <a:pPr indent="0" marL="0">
              <a:buNone/>
            </a:pPr>
            <a:r>
              <a:rPr lang="en-US" sz="1600" b="1" i="1" dirty="0">
                <a:solidFill>
                  <a:srgbClr val="15303F"/>
                </a:solidFill>
                <a:latin typeface="Cambria" pitchFamily="34" charset="0"/>
                <a:ea typeface="Cambria" pitchFamily="34" charset="-122"/>
                <a:cs typeface="Cambria" pitchFamily="34" charset="-120"/>
              </a:rPr>
              <a:t>"It takes time to adjust to the pressure."</a:t>
            </a:r>
            <a:endParaRPr lang="en-US" sz="1600" dirty="0"/>
          </a:p>
        </p:txBody>
      </p:sp>
      <p:sp>
        <p:nvSpPr>
          <p:cNvPr id="7" name="Text 5"/>
          <p:cNvSpPr txBox="1"/>
          <p:nvPr/>
        </p:nvSpPr>
        <p:spPr>
          <a:xfrm>
            <a:off x="6126480" y="2112264"/>
            <a:ext cx="5120640" cy="822960"/>
          </a:xfrm>
          <a:prstGeom prst="rect">
            <a:avLst/>
          </a:prstGeom>
          <a:noFill/>
          <a:ln/>
        </p:spPr>
        <p:txBody>
          <a:bodyPr wrap="square" lIns="0" tIns="0" rIns="0" bIns="0" rtlCol="0" anchor="ctr"/>
          <a:lstStyle/>
          <a:p>
            <a:pPr indent="0" marL="0">
              <a:buNone/>
            </a:pPr>
            <a:r>
              <a:rPr lang="en-US" sz="1300" dirty="0">
                <a:solidFill>
                  <a:srgbClr val="2CA58D"/>
                </a:solidFill>
                <a:latin typeface="Calibri" pitchFamily="34" charset="0"/>
                <a:ea typeface="Calibri" pitchFamily="34" charset="-122"/>
                <a:cs typeface="Calibri" pitchFamily="34" charset="-120"/>
              </a:rPr>
              <a:t>Supports our concept: relief eases the exhalation that users struggle with.</a:t>
            </a:r>
            <a:endParaRPr lang="en-US" sz="1300" dirty="0"/>
          </a:p>
        </p:txBody>
      </p:sp>
      <p:sp>
        <p:nvSpPr>
          <p:cNvPr id="8" name="Shape 6"/>
          <p:cNvSpPr/>
          <p:nvPr/>
        </p:nvSpPr>
        <p:spPr>
          <a:xfrm>
            <a:off x="731520" y="3200400"/>
            <a:ext cx="10698480" cy="1097280"/>
          </a:xfrm>
          <a:prstGeom prst="roundRect">
            <a:avLst>
              <a:gd name="adj" fmla="val 7500"/>
            </a:avLst>
          </a:prstGeom>
          <a:solidFill>
            <a:srgbClr val="EEF4F8"/>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9" name="Text 7"/>
          <p:cNvSpPr txBox="1"/>
          <p:nvPr/>
        </p:nvSpPr>
        <p:spPr>
          <a:xfrm>
            <a:off x="960120" y="3346704"/>
            <a:ext cx="4937760" cy="822960"/>
          </a:xfrm>
          <a:prstGeom prst="rect">
            <a:avLst/>
          </a:prstGeom>
          <a:noFill/>
          <a:ln/>
        </p:spPr>
        <p:txBody>
          <a:bodyPr wrap="square" lIns="0" tIns="0" rIns="0" bIns="0" rtlCol="0" anchor="ctr"/>
          <a:lstStyle/>
          <a:p>
            <a:pPr indent="0" marL="0">
              <a:buNone/>
            </a:pPr>
            <a:r>
              <a:rPr lang="en-US" sz="1600" b="1" i="1" dirty="0">
                <a:solidFill>
                  <a:srgbClr val="15303F"/>
                </a:solidFill>
                <a:latin typeface="Cambria" pitchFamily="34" charset="0"/>
                <a:ea typeface="Cambria" pitchFamily="34" charset="-122"/>
                <a:cs typeface="Cambria" pitchFamily="34" charset="-120"/>
              </a:rPr>
              <a:t>"Noise isn't too bad, like a white noise machine."</a:t>
            </a:r>
            <a:endParaRPr lang="en-US" sz="1600" dirty="0"/>
          </a:p>
        </p:txBody>
      </p:sp>
      <p:sp>
        <p:nvSpPr>
          <p:cNvPr id="10" name="Text 8"/>
          <p:cNvSpPr txBox="1"/>
          <p:nvPr/>
        </p:nvSpPr>
        <p:spPr>
          <a:xfrm>
            <a:off x="6126480" y="3346704"/>
            <a:ext cx="5120640" cy="822960"/>
          </a:xfrm>
          <a:prstGeom prst="rect">
            <a:avLst/>
          </a:prstGeom>
          <a:noFill/>
          <a:ln/>
        </p:spPr>
        <p:txBody>
          <a:bodyPr wrap="square" lIns="0" tIns="0" rIns="0" bIns="0" rtlCol="0" anchor="ctr"/>
          <a:lstStyle/>
          <a:p>
            <a:pPr indent="0" marL="0">
              <a:buNone/>
            </a:pPr>
            <a:r>
              <a:rPr lang="en-US" sz="1300" dirty="0">
                <a:solidFill>
                  <a:srgbClr val="C1443B"/>
                </a:solidFill>
                <a:latin typeface="Calibri" pitchFamily="34" charset="0"/>
                <a:ea typeface="Calibri" pitchFamily="34" charset="-122"/>
                <a:cs typeface="Calibri" pitchFamily="34" charset="-120"/>
              </a:rPr>
              <a:t>Honest counter-point: on a premium unit noise is mild, so we target bed-partner and high-pressure cases.</a:t>
            </a:r>
            <a:endParaRPr lang="en-US" sz="1300" dirty="0"/>
          </a:p>
        </p:txBody>
      </p:sp>
      <p:sp>
        <p:nvSpPr>
          <p:cNvPr id="11" name="Shape 9"/>
          <p:cNvSpPr/>
          <p:nvPr/>
        </p:nvSpPr>
        <p:spPr>
          <a:xfrm>
            <a:off x="731520" y="4434840"/>
            <a:ext cx="10698480" cy="1097280"/>
          </a:xfrm>
          <a:prstGeom prst="roundRect">
            <a:avLst>
              <a:gd name="adj" fmla="val 7500"/>
            </a:avLst>
          </a:prstGeom>
          <a:solidFill>
            <a:srgbClr val="EEF4F8"/>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12" name="Text 10"/>
          <p:cNvSpPr txBox="1"/>
          <p:nvPr/>
        </p:nvSpPr>
        <p:spPr>
          <a:xfrm>
            <a:off x="960120" y="4581144"/>
            <a:ext cx="4937760" cy="822960"/>
          </a:xfrm>
          <a:prstGeom prst="rect">
            <a:avLst/>
          </a:prstGeom>
          <a:noFill/>
          <a:ln/>
        </p:spPr>
        <p:txBody>
          <a:bodyPr wrap="square" lIns="0" tIns="0" rIns="0" bIns="0" rtlCol="0" anchor="ctr"/>
          <a:lstStyle/>
          <a:p>
            <a:pPr indent="0" marL="0">
              <a:buNone/>
            </a:pPr>
            <a:r>
              <a:rPr lang="en-US" sz="1600" b="1" i="1" dirty="0">
                <a:solidFill>
                  <a:srgbClr val="15303F"/>
                </a:solidFill>
                <a:latin typeface="Cambria" pitchFamily="34" charset="0"/>
                <a:ea typeface="Cambria" pitchFamily="34" charset="-122"/>
                <a:cs typeface="Cambria" pitchFamily="34" charset="-120"/>
              </a:rPr>
              <a:t>"I wish it were more compact to travel with."</a:t>
            </a:r>
            <a:endParaRPr lang="en-US" sz="1600" dirty="0"/>
          </a:p>
        </p:txBody>
      </p:sp>
      <p:sp>
        <p:nvSpPr>
          <p:cNvPr id="13" name="Text 11"/>
          <p:cNvSpPr txBox="1"/>
          <p:nvPr/>
        </p:nvSpPr>
        <p:spPr>
          <a:xfrm>
            <a:off x="6126480" y="4581144"/>
            <a:ext cx="5120640" cy="822960"/>
          </a:xfrm>
          <a:prstGeom prst="rect">
            <a:avLst/>
          </a:prstGeom>
          <a:noFill/>
          <a:ln/>
        </p:spPr>
        <p:txBody>
          <a:bodyPr wrap="square" lIns="0" tIns="0" rIns="0" bIns="0" rtlCol="0" anchor="ctr"/>
          <a:lstStyle/>
          <a:p>
            <a:pPr indent="0" marL="0">
              <a:buNone/>
            </a:pPr>
            <a:r>
              <a:rPr lang="en-US" sz="1300" dirty="0">
                <a:solidFill>
                  <a:srgbClr val="5A6B78"/>
                </a:solidFill>
                <a:latin typeface="Calibri" pitchFamily="34" charset="0"/>
                <a:ea typeface="Calibri" pitchFamily="34" charset="-122"/>
                <a:cs typeface="Calibri" pitchFamily="34" charset="-120"/>
              </a:rPr>
              <a:t>Real pain, but out of scope for an airflow model, logged as future work.</a:t>
            </a:r>
            <a:endParaRPr lang="en-US" sz="1300" dirty="0"/>
          </a:p>
        </p:txBody>
      </p:sp>
      <p:sp>
        <p:nvSpPr>
          <p:cNvPr id="14" name="Text 12"/>
          <p:cNvSpPr txBox="1"/>
          <p:nvPr/>
        </p:nvSpPr>
        <p:spPr>
          <a:xfrm>
            <a:off x="731520" y="5806440"/>
            <a:ext cx="10698480" cy="365760"/>
          </a:xfrm>
          <a:prstGeom prst="rect">
            <a:avLst/>
          </a:prstGeom>
          <a:noFill/>
          <a:ln/>
        </p:spPr>
        <p:txBody>
          <a:bodyPr wrap="square" lIns="0" tIns="0" rIns="0" bIns="0" rtlCol="0" anchor="t"/>
          <a:lstStyle/>
          <a:p>
            <a:pPr indent="0" marL="0">
              <a:buNone/>
            </a:pPr>
            <a:r>
              <a:rPr lang="en-US" sz="1250" i="1" dirty="0">
                <a:solidFill>
                  <a:srgbClr val="065A82"/>
                </a:solidFill>
                <a:latin typeface="Calibri" pitchFamily="34" charset="0"/>
                <a:ea typeface="Calibri" pitchFamily="34" charset="-122"/>
                <a:cs typeface="Calibri" pitchFamily="34" charset="-120"/>
              </a:rPr>
              <a:t>His machine already includes EPR (0–3 cmH₂O): the exact mechanism our model builds on and quantifies.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Our Concept: Flow-Triggered Relief Valve</a:t>
            </a:r>
            <a:endParaRPr lang="en-US" sz="3000" dirty="0"/>
          </a:p>
        </p:txBody>
      </p:sp>
      <p:sp>
        <p:nvSpPr>
          <p:cNvPr id="4" name="Text 2"/>
          <p:cNvSpPr txBox="1"/>
          <p:nvPr/>
        </p:nvSpPr>
        <p:spPr>
          <a:xfrm>
            <a:off x="731520" y="1417320"/>
            <a:ext cx="5669280" cy="2011680"/>
          </a:xfrm>
          <a:prstGeom prst="rect">
            <a:avLst/>
          </a:prstGeom>
          <a:noFill/>
          <a:ln/>
        </p:spPr>
        <p:txBody>
          <a:bodyPr wrap="square" lIns="0" tIns="0" rIns="0" bIns="0" rtlCol="0" anchor="t"/>
          <a:lstStyle/>
          <a:p>
            <a:pPr indent="0" marL="0">
              <a:spcAft>
                <a:spcPts val="800"/>
              </a:spcAft>
              <a:buNone/>
            </a:pPr>
            <a:r>
              <a:rPr lang="en-US" sz="1500" dirty="0">
                <a:solidFill>
                  <a:srgbClr val="15303F"/>
                </a:solidFill>
                <a:latin typeface="Calibri" pitchFamily="34" charset="0"/>
                <a:ea typeface="Calibri" pitchFamily="34" charset="-122"/>
                <a:cs typeface="Calibri" pitchFamily="34" charset="-120"/>
              </a:rPr>
              <a:t>Standard CPAP holds one pressure across the whole breath, so you always exhale against it. </a:t>
            </a:r>
            <a:endParaRPr lang="en-US" sz="1500" dirty="0"/>
          </a:p>
          <a:p>
            <a:pPr indent="0" marL="0">
              <a:buNone/>
            </a:pPr>
            <a:r>
              <a:rPr lang="en-US" sz="1500" dirty="0">
                <a:solidFill>
                  <a:srgbClr val="15303F"/>
                </a:solidFill>
                <a:latin typeface="Calibri" pitchFamily="34" charset="0"/>
                <a:ea typeface="Calibri" pitchFamily="34" charset="-122"/>
                <a:cs typeface="Calibri" pitchFamily="34" charset="-120"/>
              </a:rPr>
              <a:t>Our valve senses the start of exhalation, drops mask pressure by up to 3 cmH₂O, then restores full pressure for the next inhalation.</a:t>
            </a:r>
            <a:endParaRPr lang="en-US" sz="1500" dirty="0"/>
          </a:p>
        </p:txBody>
      </p:sp>
      <p:sp>
        <p:nvSpPr>
          <p:cNvPr id="5" name="Shape 3"/>
          <p:cNvSpPr/>
          <p:nvPr/>
        </p:nvSpPr>
        <p:spPr>
          <a:xfrm>
            <a:off x="731520" y="3611880"/>
            <a:ext cx="5669280" cy="1920240"/>
          </a:xfrm>
          <a:prstGeom prst="roundRect">
            <a:avLst>
              <a:gd name="adj" fmla="val 4286"/>
            </a:avLst>
          </a:prstGeom>
          <a:solidFill>
            <a:srgbClr val="E7F5F0"/>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6" name="Text 4"/>
          <p:cNvSpPr txBox="1"/>
          <p:nvPr/>
        </p:nvSpPr>
        <p:spPr>
          <a:xfrm>
            <a:off x="960120" y="3794760"/>
            <a:ext cx="5212080" cy="457200"/>
          </a:xfrm>
          <a:prstGeom prst="rect">
            <a:avLst/>
          </a:prstGeom>
          <a:noFill/>
          <a:ln/>
        </p:spPr>
        <p:txBody>
          <a:bodyPr wrap="square" lIns="0" tIns="0" rIns="0" bIns="0" rtlCol="0" anchor="t"/>
          <a:lstStyle/>
          <a:p>
            <a:pPr indent="0" marL="0">
              <a:buNone/>
            </a:pPr>
            <a:r>
              <a:rPr lang="en-US" sz="1800" b="1" dirty="0">
                <a:solidFill>
                  <a:srgbClr val="2CA58D"/>
                </a:solidFill>
                <a:latin typeface="Cambria" pitchFamily="34" charset="0"/>
                <a:ea typeface="Cambria" pitchFamily="34" charset="-122"/>
                <a:cs typeface="Cambria" pitchFamily="34" charset="-120"/>
              </a:rPr>
              <a:t>One change, two wins</a:t>
            </a:r>
            <a:endParaRPr lang="en-US" sz="1800" dirty="0"/>
          </a:p>
        </p:txBody>
      </p:sp>
      <p:sp>
        <p:nvSpPr>
          <p:cNvPr id="7" name="Text 5"/>
          <p:cNvSpPr txBox="1"/>
          <p:nvPr/>
        </p:nvSpPr>
        <p:spPr>
          <a:xfrm>
            <a:off x="960120" y="4343400"/>
            <a:ext cx="5212080" cy="10972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5303F"/>
                </a:solidFill>
                <a:latin typeface="Calibri" pitchFamily="34" charset="0"/>
                <a:ea typeface="Calibri" pitchFamily="34" charset="-122"/>
                <a:cs typeface="Calibri" pitchFamily="34" charset="-120"/>
              </a:rPr>
              <a:t>Easier exhalation: less pressure to push against</a:t>
            </a:r>
            <a:endParaRPr lang="en-US" sz="1350" dirty="0"/>
          </a:p>
          <a:p>
            <a:pPr marL="177800" indent="-177800">
              <a:buSzPct val="100000"/>
              <a:buChar char="•"/>
            </a:pPr>
            <a:r>
              <a:rPr lang="en-US" sz="1350" dirty="0">
                <a:solidFill>
                  <a:srgbClr val="15303F"/>
                </a:solidFill>
                <a:latin typeface="Calibri" pitchFamily="34" charset="0"/>
                <a:ea typeface="Calibri" pitchFamily="34" charset="-122"/>
                <a:cs typeface="Calibri" pitchFamily="34" charset="-120"/>
              </a:rPr>
              <a:t>Quieter vent: lower expiratory pressure means a slower, calmer vent jet</a:t>
            </a:r>
            <a:endParaRPr lang="en-US" sz="1350" dirty="0"/>
          </a:p>
        </p:txBody>
      </p:sp>
      <p:sp>
        <p:nvSpPr>
          <p:cNvPr id="8" name="Shape 6"/>
          <p:cNvSpPr/>
          <p:nvPr/>
        </p:nvSpPr>
        <p:spPr>
          <a:xfrm>
            <a:off x="7077456" y="1682496"/>
            <a:ext cx="4498848" cy="2551176"/>
          </a:xfrm>
          <a:prstGeom prst="roundRect">
            <a:avLst>
              <a:gd name="adj" fmla="val 2151"/>
            </a:avLst>
          </a:prstGeom>
          <a:solidFill>
            <a:srgbClr val="FFFFFF"/>
          </a:solidFill>
          <a:ln w="12700">
            <a:solidFill>
              <a:srgbClr val="D6E2EA"/>
            </a:solidFill>
            <a:prstDash val="solid"/>
          </a:ln>
          <a:effectLst>
            <a:outerShdw sx="100000" sy="100000" kx="0" ky="0" algn="bl" rotWithShape="0" blurRad="101600" dist="38100" dir="5400000">
              <a:srgbClr val="7E93A2">
                <a:alpha val="40000"/>
              </a:srgbClr>
            </a:outerShdw>
          </a:effectLst>
        </p:spPr>
      </p:sp>
      <p:pic>
        <p:nvPicPr>
          <p:cNvPr id="9" name="Image 0" descr="cpap_photo.png">    </p:cNvPr>
          <p:cNvPicPr>
            <a:picLocks noChangeAspect="1"/>
          </p:cNvPicPr>
          <p:nvPr/>
        </p:nvPicPr>
        <p:blipFill>
          <a:blip r:embed="rId1"/>
          <a:stretch>
            <a:fillRect/>
          </a:stretch>
        </p:blipFill>
        <p:spPr>
          <a:xfrm>
            <a:off x="7132320" y="1737360"/>
            <a:ext cx="4389120" cy="2441448"/>
          </a:xfrm>
          <a:prstGeom prst="rect">
            <a:avLst/>
          </a:prstGeom>
        </p:spPr>
      </p:pic>
      <p:sp>
        <p:nvSpPr>
          <p:cNvPr id="10" name="Text 7"/>
          <p:cNvSpPr txBox="1"/>
          <p:nvPr/>
        </p:nvSpPr>
        <p:spPr>
          <a:xfrm>
            <a:off x="7132320" y="4297680"/>
            <a:ext cx="4389120" cy="365760"/>
          </a:xfrm>
          <a:prstGeom prst="rect">
            <a:avLst/>
          </a:prstGeom>
          <a:noFill/>
          <a:ln/>
        </p:spPr>
        <p:txBody>
          <a:bodyPr wrap="square" lIns="0" tIns="0" rIns="0" bIns="0" rtlCol="0" anchor="t"/>
          <a:lstStyle/>
          <a:p>
            <a:pPr algn="ctr" indent="0" marL="0">
              <a:buNone/>
            </a:pPr>
            <a:r>
              <a:rPr lang="en-US" sz="1150" i="1" dirty="0">
                <a:solidFill>
                  <a:srgbClr val="5A6B78"/>
                </a:solidFill>
                <a:latin typeface="Calibri" pitchFamily="34" charset="0"/>
                <a:ea typeface="Calibri" pitchFamily="34" charset="-122"/>
                <a:cs typeface="Calibri" pitchFamily="34" charset="-120"/>
              </a:rPr>
              <a:t>Concept fits standard nasal-pillow hardware.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How It Works: The Airflow Path</a:t>
            </a:r>
            <a:endParaRPr lang="en-US" sz="3000" dirty="0"/>
          </a:p>
        </p:txBody>
      </p:sp>
      <p:sp>
        <p:nvSpPr>
          <p:cNvPr id="4" name="Shape 2"/>
          <p:cNvSpPr/>
          <p:nvPr/>
        </p:nvSpPr>
        <p:spPr>
          <a:xfrm>
            <a:off x="996696" y="1362456"/>
            <a:ext cx="10168128" cy="4864608"/>
          </a:xfrm>
          <a:prstGeom prst="roundRect">
            <a:avLst>
              <a:gd name="adj" fmla="val 1128"/>
            </a:avLst>
          </a:prstGeom>
          <a:solidFill>
            <a:srgbClr val="FFFFFF"/>
          </a:solidFill>
          <a:ln w="12700">
            <a:solidFill>
              <a:srgbClr val="D6E2EA"/>
            </a:solidFill>
            <a:prstDash val="solid"/>
          </a:ln>
          <a:effectLst>
            <a:outerShdw sx="100000" sy="100000" kx="0" ky="0" algn="bl" rotWithShape="0" blurRad="101600" dist="38100" dir="5400000">
              <a:srgbClr val="7E93A2">
                <a:alpha val="40000"/>
              </a:srgbClr>
            </a:outerShdw>
          </a:effectLst>
        </p:spPr>
      </p:sp>
      <p:pic>
        <p:nvPicPr>
          <p:cNvPr id="5" name="Image 0" descr="sim_airflow.png">    </p:cNvPr>
          <p:cNvPicPr>
            <a:picLocks noChangeAspect="1"/>
          </p:cNvPicPr>
          <p:nvPr/>
        </p:nvPicPr>
        <p:blipFill>
          <a:blip r:embed="rId1"/>
          <a:stretch>
            <a:fillRect/>
          </a:stretch>
        </p:blipFill>
        <p:spPr>
          <a:xfrm>
            <a:off x="1051560" y="1417320"/>
            <a:ext cx="10058400" cy="4754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Simulation: Modeling the Breath</a:t>
            </a:r>
            <a:endParaRPr lang="en-US" sz="3000" dirty="0"/>
          </a:p>
        </p:txBody>
      </p:sp>
      <p:sp>
        <p:nvSpPr>
          <p:cNvPr id="4" name="Text 2"/>
          <p:cNvSpPr txBox="1"/>
          <p:nvPr/>
        </p:nvSpPr>
        <p:spPr>
          <a:xfrm>
            <a:off x="731520" y="1371600"/>
            <a:ext cx="10698480" cy="640080"/>
          </a:xfrm>
          <a:prstGeom prst="rect">
            <a:avLst/>
          </a:prstGeom>
          <a:noFill/>
          <a:ln/>
        </p:spPr>
        <p:txBody>
          <a:bodyPr wrap="square" lIns="0" tIns="0" rIns="0" bIns="0" rtlCol="0" anchor="t"/>
          <a:lstStyle/>
          <a:p>
            <a:pPr indent="0" marL="0">
              <a:buNone/>
            </a:pPr>
            <a:r>
              <a:rPr lang="en-US" sz="1500" dirty="0">
                <a:solidFill>
                  <a:srgbClr val="15303F"/>
                </a:solidFill>
                <a:latin typeface="Calibri" pitchFamily="34" charset="0"/>
                <a:ea typeface="Calibri" pitchFamily="34" charset="-122"/>
                <a:cs typeface="Calibri" pitchFamily="34" charset="-120"/>
              </a:rPr>
              <a:t>We model the patient and device as a single-compartment resistance–compliance (RC) lung, the standard biofluid model of breathing.</a:t>
            </a:r>
            <a:endParaRPr lang="en-US" sz="1500" dirty="0"/>
          </a:p>
        </p:txBody>
      </p:sp>
      <p:sp>
        <p:nvSpPr>
          <p:cNvPr id="5" name="Shape 3"/>
          <p:cNvSpPr/>
          <p:nvPr/>
        </p:nvSpPr>
        <p:spPr>
          <a:xfrm>
            <a:off x="731520" y="2148840"/>
            <a:ext cx="5669280" cy="1051560"/>
          </a:xfrm>
          <a:prstGeom prst="roundRect">
            <a:avLst>
              <a:gd name="adj" fmla="val 7826"/>
            </a:avLst>
          </a:prstGeom>
          <a:solidFill>
            <a:srgbClr val="0B1F3A"/>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6" name="Text 4"/>
          <p:cNvSpPr txBox="1"/>
          <p:nvPr/>
        </p:nvSpPr>
        <p:spPr>
          <a:xfrm>
            <a:off x="914400" y="2331720"/>
            <a:ext cx="5303520"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P_mus  +  P_dev   =   R · V̇   +   V / C</a:t>
            </a:r>
            <a:endParaRPr lang="en-US" sz="2200" dirty="0"/>
          </a:p>
        </p:txBody>
      </p:sp>
      <p:sp>
        <p:nvSpPr>
          <p:cNvPr id="7" name="Text 5"/>
          <p:cNvSpPr txBox="1"/>
          <p:nvPr/>
        </p:nvSpPr>
        <p:spPr>
          <a:xfrm>
            <a:off x="914400" y="2788920"/>
            <a:ext cx="5303520" cy="320040"/>
          </a:xfrm>
          <a:prstGeom prst="rect">
            <a:avLst/>
          </a:prstGeom>
          <a:noFill/>
          <a:ln/>
        </p:spPr>
        <p:txBody>
          <a:bodyPr wrap="square" lIns="0" tIns="0" rIns="0" bIns="0" rtlCol="0" anchor="t"/>
          <a:lstStyle/>
          <a:p>
            <a:pPr algn="ctr" indent="0" marL="0">
              <a:buNone/>
            </a:pPr>
            <a:r>
              <a:rPr lang="en-US" sz="1150" i="1" dirty="0">
                <a:solidFill>
                  <a:srgbClr val="9FB6C9"/>
                </a:solidFill>
                <a:latin typeface="Calibri" pitchFamily="34" charset="0"/>
                <a:ea typeface="Calibri" pitchFamily="34" charset="-122"/>
                <a:cs typeface="Calibri" pitchFamily="34" charset="-120"/>
              </a:rPr>
              <a:t>muscle + device pressure  =  resistive + elastic load</a:t>
            </a:r>
            <a:endParaRPr lang="en-US" sz="1150" dirty="0"/>
          </a:p>
        </p:txBody>
      </p:sp>
      <p:sp>
        <p:nvSpPr>
          <p:cNvPr id="8" name="Text 6"/>
          <p:cNvSpPr txBox="1"/>
          <p:nvPr/>
        </p:nvSpPr>
        <p:spPr>
          <a:xfrm>
            <a:off x="731520" y="3429000"/>
            <a:ext cx="5669280" cy="1463040"/>
          </a:xfrm>
          <a:prstGeom prst="rect">
            <a:avLst/>
          </a:prstGeom>
          <a:noFill/>
          <a:ln/>
        </p:spPr>
        <p:txBody>
          <a:bodyPr wrap="square" lIns="0" tIns="0" rIns="0" bIns="0" rtlCol="0" anchor="t"/>
          <a:lstStyle/>
          <a:p>
            <a:pPr indent="0" marL="0">
              <a:buNone/>
            </a:pPr>
            <a:r>
              <a:rPr lang="en-US" sz="1400" b="1" dirty="0">
                <a:solidFill>
                  <a:srgbClr val="2CA58D"/>
                </a:solidFill>
                <a:latin typeface="Calibri" pitchFamily="34" charset="0"/>
                <a:ea typeface="Calibri" pitchFamily="34" charset="-122"/>
                <a:cs typeface="Calibri" pitchFamily="34" charset="-120"/>
              </a:rPr>
              <a:t>Key idea: </a:t>
            </a:r>
            <a:pPr indent="0" marL="0">
              <a:buNone/>
            </a:pPr>
            <a:r>
              <a:rPr lang="en-US" sz="1400" dirty="0">
                <a:solidFill>
                  <a:srgbClr val="15303F"/>
                </a:solidFill>
                <a:latin typeface="Calibri" pitchFamily="34" charset="0"/>
                <a:ea typeface="Calibri" pitchFamily="34" charset="-122"/>
                <a:cs typeface="Calibri" pitchFamily="34" charset="-120"/>
              </a:rPr>
              <a:t>the prescribed breath (tidal volume, rate) is identical before and after, so every improvement comes from the device, not from changing the breathing.</a:t>
            </a:r>
            <a:endParaRPr lang="en-US" sz="1400" dirty="0"/>
          </a:p>
        </p:txBody>
      </p:sp>
      <p:sp>
        <p:nvSpPr>
          <p:cNvPr id="9" name="Shape 7"/>
          <p:cNvSpPr/>
          <p:nvPr/>
        </p:nvSpPr>
        <p:spPr>
          <a:xfrm>
            <a:off x="6675120" y="2148840"/>
            <a:ext cx="4754880" cy="3566160"/>
          </a:xfrm>
          <a:prstGeom prst="roundRect">
            <a:avLst>
              <a:gd name="adj" fmla="val 2308"/>
            </a:avLst>
          </a:prstGeom>
          <a:solidFill>
            <a:srgbClr val="EEF4F8"/>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10" name="Text 8"/>
          <p:cNvSpPr txBox="1"/>
          <p:nvPr/>
        </p:nvSpPr>
        <p:spPr>
          <a:xfrm>
            <a:off x="6903720" y="2331720"/>
            <a:ext cx="4297680" cy="365760"/>
          </a:xfrm>
          <a:prstGeom prst="rect">
            <a:avLst/>
          </a:prstGeom>
          <a:noFill/>
          <a:ln/>
        </p:spPr>
        <p:txBody>
          <a:bodyPr wrap="square" lIns="0" tIns="0" rIns="0" bIns="0" rtlCol="0" anchor="t"/>
          <a:lstStyle/>
          <a:p>
            <a:pPr indent="0" marL="0">
              <a:buNone/>
            </a:pPr>
            <a:r>
              <a:rPr lang="en-US" sz="1500" b="1" dirty="0">
                <a:solidFill>
                  <a:srgbClr val="065A82"/>
                </a:solidFill>
                <a:latin typeface="Cambria" pitchFamily="34" charset="0"/>
                <a:ea typeface="Cambria" pitchFamily="34" charset="-122"/>
                <a:cs typeface="Cambria" pitchFamily="34" charset="-120"/>
              </a:rPr>
              <a:t>Parameters (AirSense 11 spec)</a:t>
            </a:r>
            <a:endParaRPr lang="en-US" sz="1500" dirty="0"/>
          </a:p>
        </p:txBody>
      </p:sp>
      <p:sp>
        <p:nvSpPr>
          <p:cNvPr id="11" name="Text 9"/>
          <p:cNvSpPr txBox="1"/>
          <p:nvPr/>
        </p:nvSpPr>
        <p:spPr>
          <a:xfrm>
            <a:off x="6903720" y="2788920"/>
            <a:ext cx="4297680" cy="2743200"/>
          </a:xfrm>
          <a:prstGeom prst="rect">
            <a:avLst/>
          </a:prstGeom>
          <a:noFill/>
          <a:ln/>
        </p:spPr>
        <p:txBody>
          <a:bodyPr wrap="square" lIns="0" tIns="0" rIns="0" bIns="0" rtlCol="0" anchor="t"/>
          <a:lstStyle/>
          <a:p>
            <a:pPr indent="0" marL="0">
              <a:spcAft>
                <a:spcPts val="700"/>
              </a:spcAft>
              <a:buNone/>
            </a:pPr>
            <a:r>
              <a:rPr lang="en-US" sz="1300" dirty="0">
                <a:solidFill>
                  <a:srgbClr val="15303F"/>
                </a:solidFill>
                <a:latin typeface="Calibri" pitchFamily="34" charset="0"/>
                <a:ea typeface="Calibri" pitchFamily="34" charset="-122"/>
                <a:cs typeface="Calibri" pitchFamily="34" charset="-120"/>
              </a:rPr>
              <a:t>Airway resistance R:  3 cmH₂O·s/L</a:t>
            </a:r>
            <a:endParaRPr lang="en-US" sz="1300" dirty="0"/>
          </a:p>
          <a:p>
            <a:pPr indent="0" marL="0">
              <a:spcAft>
                <a:spcPts val="700"/>
              </a:spcAft>
              <a:buNone/>
            </a:pPr>
            <a:r>
              <a:rPr lang="en-US" sz="1300" dirty="0">
                <a:solidFill>
                  <a:srgbClr val="15303F"/>
                </a:solidFill>
                <a:latin typeface="Calibri" pitchFamily="34" charset="0"/>
                <a:ea typeface="Calibri" pitchFamily="34" charset="-122"/>
                <a:cs typeface="Calibri" pitchFamily="34" charset="-120"/>
              </a:rPr>
              <a:t>Lung compliance C:  0.1 L/cmH₂O</a:t>
            </a:r>
            <a:endParaRPr lang="en-US" sz="1300" dirty="0"/>
          </a:p>
          <a:p>
            <a:pPr indent="0" marL="0">
              <a:spcAft>
                <a:spcPts val="700"/>
              </a:spcAft>
              <a:buNone/>
            </a:pPr>
            <a:r>
              <a:rPr lang="en-US" sz="1300" dirty="0">
                <a:solidFill>
                  <a:srgbClr val="15303F"/>
                </a:solidFill>
                <a:latin typeface="Calibri" pitchFamily="34" charset="0"/>
                <a:ea typeface="Calibri" pitchFamily="34" charset="-122"/>
                <a:cs typeface="Calibri" pitchFamily="34" charset="-120"/>
              </a:rPr>
              <a:t>Tidal volume:  0.5 L</a:t>
            </a:r>
            <a:endParaRPr lang="en-US" sz="1300" dirty="0"/>
          </a:p>
          <a:p>
            <a:pPr indent="0" marL="0">
              <a:spcAft>
                <a:spcPts val="700"/>
              </a:spcAft>
              <a:buNone/>
            </a:pPr>
            <a:r>
              <a:rPr lang="en-US" sz="1300" dirty="0">
                <a:solidFill>
                  <a:srgbClr val="15303F"/>
                </a:solidFill>
                <a:latin typeface="Calibri" pitchFamily="34" charset="0"/>
                <a:ea typeface="Calibri" pitchFamily="34" charset="-122"/>
                <a:cs typeface="Calibri" pitchFamily="34" charset="-120"/>
              </a:rPr>
              <a:t>Breathing rate:  15 / min</a:t>
            </a:r>
            <a:endParaRPr lang="en-US" sz="1300" dirty="0"/>
          </a:p>
          <a:p>
            <a:pPr indent="0" marL="0">
              <a:spcAft>
                <a:spcPts val="700"/>
              </a:spcAft>
              <a:buNone/>
            </a:pPr>
            <a:r>
              <a:rPr lang="en-US" sz="1300" dirty="0">
                <a:solidFill>
                  <a:srgbClr val="15303F"/>
                </a:solidFill>
                <a:latin typeface="Calibri" pitchFamily="34" charset="0"/>
                <a:ea typeface="Calibri" pitchFamily="34" charset="-122"/>
                <a:cs typeface="Calibri" pitchFamily="34" charset="-120"/>
              </a:rPr>
              <a:t>CPAP pressure:  10 cmH₂O</a:t>
            </a:r>
            <a:endParaRPr lang="en-US" sz="1300" dirty="0"/>
          </a:p>
          <a:p>
            <a:pPr indent="0" marL="0">
              <a:spcAft>
                <a:spcPts val="700"/>
              </a:spcAft>
              <a:buNone/>
            </a:pPr>
            <a:r>
              <a:rPr lang="en-US" sz="1300" dirty="0">
                <a:solidFill>
                  <a:srgbClr val="15303F"/>
                </a:solidFill>
                <a:latin typeface="Calibri" pitchFamily="34" charset="0"/>
                <a:ea typeface="Calibri" pitchFamily="34" charset="-122"/>
                <a:cs typeface="Calibri" pitchFamily="34" charset="-120"/>
              </a:rPr>
              <a:t>Expiratory relief:  3 cmH₂O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Result 1: Easier Exhalation</a:t>
            </a:r>
            <a:endParaRPr lang="en-US" sz="3000" dirty="0"/>
          </a:p>
        </p:txBody>
      </p:sp>
      <p:sp>
        <p:nvSpPr>
          <p:cNvPr id="4" name="Shape 2"/>
          <p:cNvSpPr/>
          <p:nvPr/>
        </p:nvSpPr>
        <p:spPr>
          <a:xfrm>
            <a:off x="676656" y="1362456"/>
            <a:ext cx="5687568" cy="4590288"/>
          </a:xfrm>
          <a:prstGeom prst="roundRect">
            <a:avLst>
              <a:gd name="adj" fmla="val 1195"/>
            </a:avLst>
          </a:prstGeom>
          <a:solidFill>
            <a:srgbClr val="FFFFFF"/>
          </a:solidFill>
          <a:ln w="12700">
            <a:solidFill>
              <a:srgbClr val="D6E2EA"/>
            </a:solidFill>
            <a:prstDash val="solid"/>
          </a:ln>
          <a:effectLst>
            <a:outerShdw sx="100000" sy="100000" kx="0" ky="0" algn="bl" rotWithShape="0" blurRad="101600" dist="38100" dir="5400000">
              <a:srgbClr val="7E93A2">
                <a:alpha val="40000"/>
              </a:srgbClr>
            </a:outerShdw>
          </a:effectLst>
        </p:spPr>
      </p:sp>
      <p:pic>
        <p:nvPicPr>
          <p:cNvPr id="5" name="Image 0" descr="sim_pv_loop.png">    </p:cNvPr>
          <p:cNvPicPr>
            <a:picLocks noChangeAspect="1"/>
          </p:cNvPicPr>
          <p:nvPr/>
        </p:nvPicPr>
        <p:blipFill>
          <a:blip r:embed="rId1"/>
          <a:stretch>
            <a:fillRect/>
          </a:stretch>
        </p:blipFill>
        <p:spPr>
          <a:xfrm>
            <a:off x="731520" y="1417320"/>
            <a:ext cx="5577840" cy="4480560"/>
          </a:xfrm>
          <a:prstGeom prst="rect">
            <a:avLst/>
          </a:prstGeom>
        </p:spPr>
      </p:pic>
      <p:sp>
        <p:nvSpPr>
          <p:cNvPr id="6" name="Text 3"/>
          <p:cNvSpPr txBox="1"/>
          <p:nvPr/>
        </p:nvSpPr>
        <p:spPr>
          <a:xfrm>
            <a:off x="6766560" y="1600200"/>
            <a:ext cx="4663440" cy="685800"/>
          </a:xfrm>
          <a:prstGeom prst="rect">
            <a:avLst/>
          </a:prstGeom>
          <a:noFill/>
          <a:ln/>
        </p:spPr>
        <p:txBody>
          <a:bodyPr wrap="square" lIns="0" tIns="0" rIns="0" bIns="0" rtlCol="0" anchor="t"/>
          <a:lstStyle/>
          <a:p>
            <a:pPr algn="ctr" indent="0" marL="0">
              <a:buNone/>
            </a:pPr>
            <a:r>
              <a:rPr lang="en-US" sz="4000" b="1" dirty="0">
                <a:solidFill>
                  <a:srgbClr val="2CA58D"/>
                </a:solidFill>
                <a:latin typeface="Cambria" pitchFamily="34" charset="0"/>
                <a:ea typeface="Cambria" pitchFamily="34" charset="-122"/>
                <a:cs typeface="Cambria" pitchFamily="34" charset="-120"/>
              </a:rPr>
              <a:t>−35%</a:t>
            </a:r>
            <a:endParaRPr lang="en-US" sz="4000" dirty="0"/>
          </a:p>
        </p:txBody>
      </p:sp>
      <p:sp>
        <p:nvSpPr>
          <p:cNvPr id="7" name="Text 4"/>
          <p:cNvSpPr txBox="1"/>
          <p:nvPr/>
        </p:nvSpPr>
        <p:spPr>
          <a:xfrm>
            <a:off x="6766560" y="2313432"/>
            <a:ext cx="4663440" cy="640080"/>
          </a:xfrm>
          <a:prstGeom prst="rect">
            <a:avLst/>
          </a:prstGeom>
          <a:noFill/>
          <a:ln/>
        </p:spPr>
        <p:txBody>
          <a:bodyPr wrap="square" lIns="0" tIns="0" rIns="0" bIns="0" rtlCol="0" anchor="t"/>
          <a:lstStyle/>
          <a:p>
            <a:pPr algn="ctr" indent="0" marL="0">
              <a:buNone/>
            </a:pPr>
            <a:r>
              <a:rPr lang="en-US" sz="1250" dirty="0">
                <a:solidFill>
                  <a:srgbClr val="5A6B78"/>
                </a:solidFill>
                <a:latin typeface="Calibri" pitchFamily="34" charset="0"/>
                <a:ea typeface="Calibri" pitchFamily="34" charset="-122"/>
                <a:cs typeface="Calibri" pitchFamily="34" charset="-120"/>
              </a:rPr>
              <a:t>peak exhalation effort</a:t>
            </a:r>
            <a:endParaRPr lang="en-US" sz="1250" dirty="0"/>
          </a:p>
        </p:txBody>
      </p:sp>
      <p:sp>
        <p:nvSpPr>
          <p:cNvPr id="8" name="Text 5"/>
          <p:cNvSpPr txBox="1"/>
          <p:nvPr/>
        </p:nvSpPr>
        <p:spPr>
          <a:xfrm>
            <a:off x="6766560" y="3246120"/>
            <a:ext cx="4663440" cy="685800"/>
          </a:xfrm>
          <a:prstGeom prst="rect">
            <a:avLst/>
          </a:prstGeom>
          <a:noFill/>
          <a:ln/>
        </p:spPr>
        <p:txBody>
          <a:bodyPr wrap="square" lIns="0" tIns="0" rIns="0" bIns="0" rtlCol="0" anchor="t"/>
          <a:lstStyle/>
          <a:p>
            <a:pPr algn="ctr" indent="0" marL="0">
              <a:buNone/>
            </a:pPr>
            <a:r>
              <a:rPr lang="en-US" sz="4000" b="1" dirty="0">
                <a:solidFill>
                  <a:srgbClr val="2CA58D"/>
                </a:solidFill>
                <a:latin typeface="Cambria" pitchFamily="34" charset="0"/>
                <a:ea typeface="Cambria" pitchFamily="34" charset="-122"/>
                <a:cs typeface="Cambria" pitchFamily="34" charset="-120"/>
              </a:rPr>
              <a:t>−28%</a:t>
            </a:r>
            <a:endParaRPr lang="en-US" sz="4000" dirty="0"/>
          </a:p>
        </p:txBody>
      </p:sp>
      <p:sp>
        <p:nvSpPr>
          <p:cNvPr id="9" name="Text 6"/>
          <p:cNvSpPr txBox="1"/>
          <p:nvPr/>
        </p:nvSpPr>
        <p:spPr>
          <a:xfrm>
            <a:off x="6766560" y="3959352"/>
            <a:ext cx="4663440" cy="640080"/>
          </a:xfrm>
          <a:prstGeom prst="rect">
            <a:avLst/>
          </a:prstGeom>
          <a:noFill/>
          <a:ln/>
        </p:spPr>
        <p:txBody>
          <a:bodyPr wrap="square" lIns="0" tIns="0" rIns="0" bIns="0" rtlCol="0" anchor="t"/>
          <a:lstStyle/>
          <a:p>
            <a:pPr algn="ctr" indent="0" marL="0">
              <a:buNone/>
            </a:pPr>
            <a:r>
              <a:rPr lang="en-US" sz="1250" dirty="0">
                <a:solidFill>
                  <a:srgbClr val="5A6B78"/>
                </a:solidFill>
                <a:latin typeface="Calibri" pitchFamily="34" charset="0"/>
                <a:ea typeface="Calibri" pitchFamily="34" charset="-122"/>
                <a:cs typeface="Calibri" pitchFamily="34" charset="-120"/>
              </a:rPr>
              <a:t>expiratory work of breathing</a:t>
            </a:r>
            <a:endParaRPr lang="en-US" sz="1250" dirty="0"/>
          </a:p>
        </p:txBody>
      </p:sp>
      <p:sp>
        <p:nvSpPr>
          <p:cNvPr id="10" name="Text 7"/>
          <p:cNvSpPr txBox="1"/>
          <p:nvPr/>
        </p:nvSpPr>
        <p:spPr>
          <a:xfrm>
            <a:off x="6766560" y="4709160"/>
            <a:ext cx="4663440" cy="685800"/>
          </a:xfrm>
          <a:prstGeom prst="rect">
            <a:avLst/>
          </a:prstGeom>
          <a:noFill/>
          <a:ln/>
        </p:spPr>
        <p:txBody>
          <a:bodyPr wrap="square" lIns="0" tIns="0" rIns="0" bIns="0" rtlCol="0" anchor="t"/>
          <a:lstStyle/>
          <a:p>
            <a:pPr algn="ctr" indent="0" marL="0">
              <a:buNone/>
            </a:pPr>
            <a:r>
              <a:rPr lang="en-US" sz="4000" b="1" dirty="0">
                <a:solidFill>
                  <a:srgbClr val="2CA58D"/>
                </a:solidFill>
                <a:latin typeface="Cambria" pitchFamily="34" charset="0"/>
                <a:ea typeface="Cambria" pitchFamily="34" charset="-122"/>
                <a:cs typeface="Cambria" pitchFamily="34" charset="-120"/>
              </a:rPr>
              <a:t>−24%</a:t>
            </a:r>
            <a:endParaRPr lang="en-US" sz="4000" dirty="0"/>
          </a:p>
        </p:txBody>
      </p:sp>
      <p:sp>
        <p:nvSpPr>
          <p:cNvPr id="11" name="Text 8"/>
          <p:cNvSpPr txBox="1"/>
          <p:nvPr/>
        </p:nvSpPr>
        <p:spPr>
          <a:xfrm>
            <a:off x="6766560" y="5422392"/>
            <a:ext cx="4663440" cy="640080"/>
          </a:xfrm>
          <a:prstGeom prst="rect">
            <a:avLst/>
          </a:prstGeom>
          <a:noFill/>
          <a:ln/>
        </p:spPr>
        <p:txBody>
          <a:bodyPr wrap="square" lIns="0" tIns="0" rIns="0" bIns="0" rtlCol="0" anchor="t"/>
          <a:lstStyle/>
          <a:p>
            <a:pPr algn="ctr" indent="0" marL="0">
              <a:buNone/>
            </a:pPr>
            <a:r>
              <a:rPr lang="en-US" sz="1250" dirty="0">
                <a:solidFill>
                  <a:srgbClr val="5A6B78"/>
                </a:solidFill>
                <a:latin typeface="Calibri" pitchFamily="34" charset="0"/>
                <a:ea typeface="Calibri" pitchFamily="34" charset="-122"/>
                <a:cs typeface="Calibri" pitchFamily="34" charset="-120"/>
              </a:rPr>
              <a:t>expiratory pressure–time product</a:t>
            </a:r>
            <a:endParaRPr lang="en-US" sz="1250" dirty="0"/>
          </a:p>
        </p:txBody>
      </p:sp>
      <p:sp>
        <p:nvSpPr>
          <p:cNvPr id="12" name="Text 9"/>
          <p:cNvSpPr txBox="1"/>
          <p:nvPr/>
        </p:nvSpPr>
        <p:spPr>
          <a:xfrm>
            <a:off x="6766560" y="5943600"/>
            <a:ext cx="4663440" cy="365760"/>
          </a:xfrm>
          <a:prstGeom prst="rect">
            <a:avLst/>
          </a:prstGeom>
          <a:noFill/>
          <a:ln/>
        </p:spPr>
        <p:txBody>
          <a:bodyPr wrap="square" lIns="0" tIns="0" rIns="0" bIns="0" rtlCol="0" anchor="t"/>
          <a:lstStyle/>
          <a:p>
            <a:pPr algn="ctr" indent="0" marL="0">
              <a:buNone/>
            </a:pPr>
            <a:r>
              <a:rPr lang="en-US" sz="1200" i="1" dirty="0">
                <a:solidFill>
                  <a:srgbClr val="5A6B78"/>
                </a:solidFill>
                <a:latin typeface="Calibri" pitchFamily="34" charset="0"/>
                <a:ea typeface="Calibri" pitchFamily="34" charset="-122"/>
                <a:cs typeface="Calibri" pitchFamily="34" charset="-120"/>
              </a:rPr>
              <a:t>Tidal volume is unchanged, so therapy is preserved.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Result 2: A Quieter Vent</a:t>
            </a:r>
            <a:endParaRPr lang="en-US" sz="3000" dirty="0"/>
          </a:p>
        </p:txBody>
      </p:sp>
      <p:sp>
        <p:nvSpPr>
          <p:cNvPr id="4" name="Text 2"/>
          <p:cNvSpPr txBox="1"/>
          <p:nvPr/>
        </p:nvSpPr>
        <p:spPr>
          <a:xfrm>
            <a:off x="731520" y="1325880"/>
            <a:ext cx="10698480" cy="457200"/>
          </a:xfrm>
          <a:prstGeom prst="rect">
            <a:avLst/>
          </a:prstGeom>
          <a:noFill/>
          <a:ln/>
        </p:spPr>
        <p:txBody>
          <a:bodyPr wrap="square" lIns="0" tIns="0" rIns="0" bIns="0" rtlCol="0" anchor="t"/>
          <a:lstStyle/>
          <a:p>
            <a:pPr indent="0" marL="0">
              <a:buNone/>
            </a:pPr>
            <a:r>
              <a:rPr lang="en-US" sz="1500" dirty="0">
                <a:solidFill>
                  <a:srgbClr val="15303F"/>
                </a:solidFill>
                <a:latin typeface="Calibri" pitchFamily="34" charset="0"/>
                <a:ea typeface="Calibri" pitchFamily="34" charset="-122"/>
                <a:cs typeface="Calibri" pitchFamily="34" charset="-120"/>
              </a:rPr>
              <a:t>The same pressure drop slows the vent jet, the source of vent noise.</a:t>
            </a:r>
            <a:endParaRPr lang="en-US" sz="1500" dirty="0"/>
          </a:p>
        </p:txBody>
      </p:sp>
      <p:sp>
        <p:nvSpPr>
          <p:cNvPr id="5" name="Shape 3"/>
          <p:cNvSpPr/>
          <p:nvPr/>
        </p:nvSpPr>
        <p:spPr>
          <a:xfrm>
            <a:off x="822960" y="2057400"/>
            <a:ext cx="3291840" cy="2103120"/>
          </a:xfrm>
          <a:prstGeom prst="roundRect">
            <a:avLst>
              <a:gd name="adj" fmla="val 3913"/>
            </a:avLst>
          </a:prstGeom>
          <a:solidFill>
            <a:srgbClr val="FBEDEA"/>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6" name="Text 4"/>
          <p:cNvSpPr txBox="1"/>
          <p:nvPr/>
        </p:nvSpPr>
        <p:spPr>
          <a:xfrm>
            <a:off x="822960" y="2377440"/>
            <a:ext cx="3291840" cy="685800"/>
          </a:xfrm>
          <a:prstGeom prst="rect">
            <a:avLst/>
          </a:prstGeom>
          <a:noFill/>
          <a:ln/>
        </p:spPr>
        <p:txBody>
          <a:bodyPr wrap="square" lIns="0" tIns="0" rIns="0" bIns="0" rtlCol="0" anchor="t"/>
          <a:lstStyle/>
          <a:p>
            <a:pPr algn="ctr" indent="0" marL="0">
              <a:buNone/>
            </a:pPr>
            <a:r>
              <a:rPr lang="en-US" sz="4000" b="1" dirty="0">
                <a:solidFill>
                  <a:srgbClr val="C1443B"/>
                </a:solidFill>
                <a:latin typeface="Cambria" pitchFamily="34" charset="0"/>
                <a:ea typeface="Cambria" pitchFamily="34" charset="-122"/>
                <a:cs typeface="Cambria" pitchFamily="34" charset="-120"/>
              </a:rPr>
              <a:t>24.3</a:t>
            </a:r>
            <a:endParaRPr lang="en-US" sz="4000" dirty="0"/>
          </a:p>
        </p:txBody>
      </p:sp>
      <p:sp>
        <p:nvSpPr>
          <p:cNvPr id="7" name="Text 5"/>
          <p:cNvSpPr txBox="1"/>
          <p:nvPr/>
        </p:nvSpPr>
        <p:spPr>
          <a:xfrm>
            <a:off x="822960" y="3090672"/>
            <a:ext cx="3291840" cy="640080"/>
          </a:xfrm>
          <a:prstGeom prst="rect">
            <a:avLst/>
          </a:prstGeom>
          <a:noFill/>
          <a:ln/>
        </p:spPr>
        <p:txBody>
          <a:bodyPr wrap="square" lIns="0" tIns="0" rIns="0" bIns="0" rtlCol="0" anchor="t"/>
          <a:lstStyle/>
          <a:p>
            <a:pPr algn="ctr" indent="0" marL="0">
              <a:buNone/>
            </a:pPr>
            <a:r>
              <a:rPr lang="en-US" sz="1250" dirty="0">
                <a:solidFill>
                  <a:srgbClr val="5A6B78"/>
                </a:solidFill>
                <a:latin typeface="Calibri" pitchFamily="34" charset="0"/>
                <a:ea typeface="Calibri" pitchFamily="34" charset="-122"/>
                <a:cs typeface="Calibri" pitchFamily="34" charset="-120"/>
              </a:rPr>
              <a:t>m/s  vent jet (before)</a:t>
            </a:r>
            <a:endParaRPr lang="en-US" sz="1250" dirty="0"/>
          </a:p>
        </p:txBody>
      </p:sp>
      <p:sp>
        <p:nvSpPr>
          <p:cNvPr id="8" name="Shape 6"/>
          <p:cNvSpPr/>
          <p:nvPr/>
        </p:nvSpPr>
        <p:spPr>
          <a:xfrm>
            <a:off x="4434840" y="2057400"/>
            <a:ext cx="3291840" cy="2103120"/>
          </a:xfrm>
          <a:prstGeom prst="roundRect">
            <a:avLst>
              <a:gd name="adj" fmla="val 3913"/>
            </a:avLst>
          </a:prstGeom>
          <a:solidFill>
            <a:srgbClr val="E7F5F0"/>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9" name="Text 7"/>
          <p:cNvSpPr txBox="1"/>
          <p:nvPr/>
        </p:nvSpPr>
        <p:spPr>
          <a:xfrm>
            <a:off x="4434840" y="2377440"/>
            <a:ext cx="3291840" cy="685800"/>
          </a:xfrm>
          <a:prstGeom prst="rect">
            <a:avLst/>
          </a:prstGeom>
          <a:noFill/>
          <a:ln/>
        </p:spPr>
        <p:txBody>
          <a:bodyPr wrap="square" lIns="0" tIns="0" rIns="0" bIns="0" rtlCol="0" anchor="t"/>
          <a:lstStyle/>
          <a:p>
            <a:pPr algn="ctr" indent="0" marL="0">
              <a:buNone/>
            </a:pPr>
            <a:r>
              <a:rPr lang="en-US" sz="4000" b="1" dirty="0">
                <a:solidFill>
                  <a:srgbClr val="2CA58D"/>
                </a:solidFill>
                <a:latin typeface="Cambria" pitchFamily="34" charset="0"/>
                <a:ea typeface="Cambria" pitchFamily="34" charset="-122"/>
                <a:cs typeface="Cambria" pitchFamily="34" charset="-120"/>
              </a:rPr>
              <a:t>20.3</a:t>
            </a:r>
            <a:endParaRPr lang="en-US" sz="4000" dirty="0"/>
          </a:p>
        </p:txBody>
      </p:sp>
      <p:sp>
        <p:nvSpPr>
          <p:cNvPr id="10" name="Text 8"/>
          <p:cNvSpPr txBox="1"/>
          <p:nvPr/>
        </p:nvSpPr>
        <p:spPr>
          <a:xfrm>
            <a:off x="4434840" y="3090672"/>
            <a:ext cx="3291840" cy="640080"/>
          </a:xfrm>
          <a:prstGeom prst="rect">
            <a:avLst/>
          </a:prstGeom>
          <a:noFill/>
          <a:ln/>
        </p:spPr>
        <p:txBody>
          <a:bodyPr wrap="square" lIns="0" tIns="0" rIns="0" bIns="0" rtlCol="0" anchor="t"/>
          <a:lstStyle/>
          <a:p>
            <a:pPr algn="ctr" indent="0" marL="0">
              <a:buNone/>
            </a:pPr>
            <a:r>
              <a:rPr lang="en-US" sz="1250" dirty="0">
                <a:solidFill>
                  <a:srgbClr val="5A6B78"/>
                </a:solidFill>
                <a:latin typeface="Calibri" pitchFamily="34" charset="0"/>
                <a:ea typeface="Calibri" pitchFamily="34" charset="-122"/>
                <a:cs typeface="Calibri" pitchFamily="34" charset="-120"/>
              </a:rPr>
              <a:t>m/s  vent jet (after)</a:t>
            </a:r>
            <a:endParaRPr lang="en-US" sz="1250" dirty="0"/>
          </a:p>
        </p:txBody>
      </p:sp>
      <p:sp>
        <p:nvSpPr>
          <p:cNvPr id="11" name="Shape 9"/>
          <p:cNvSpPr/>
          <p:nvPr/>
        </p:nvSpPr>
        <p:spPr>
          <a:xfrm>
            <a:off x="8046720" y="2057400"/>
            <a:ext cx="3291840" cy="2103120"/>
          </a:xfrm>
          <a:prstGeom prst="roundRect">
            <a:avLst>
              <a:gd name="adj" fmla="val 3913"/>
            </a:avLst>
          </a:prstGeom>
          <a:solidFill>
            <a:srgbClr val="EEF4F8"/>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12" name="Text 10"/>
          <p:cNvSpPr txBox="1"/>
          <p:nvPr/>
        </p:nvSpPr>
        <p:spPr>
          <a:xfrm>
            <a:off x="8046720" y="2377440"/>
            <a:ext cx="3291840" cy="685800"/>
          </a:xfrm>
          <a:prstGeom prst="rect">
            <a:avLst/>
          </a:prstGeom>
          <a:noFill/>
          <a:ln/>
        </p:spPr>
        <p:txBody>
          <a:bodyPr wrap="square" lIns="0" tIns="0" rIns="0" bIns="0" rtlCol="0" anchor="t"/>
          <a:lstStyle/>
          <a:p>
            <a:pPr algn="ctr" indent="0" marL="0">
              <a:buNone/>
            </a:pPr>
            <a:r>
              <a:rPr lang="en-US" sz="4000" b="1" dirty="0">
                <a:solidFill>
                  <a:srgbClr val="065A82"/>
                </a:solidFill>
                <a:latin typeface="Cambria" pitchFamily="34" charset="0"/>
                <a:ea typeface="Cambria" pitchFamily="34" charset="-122"/>
                <a:cs typeface="Cambria" pitchFamily="34" charset="-120"/>
              </a:rPr>
              <a:t>−30%</a:t>
            </a:r>
            <a:endParaRPr lang="en-US" sz="4000" dirty="0"/>
          </a:p>
        </p:txBody>
      </p:sp>
      <p:sp>
        <p:nvSpPr>
          <p:cNvPr id="13" name="Text 11"/>
          <p:cNvSpPr txBox="1"/>
          <p:nvPr/>
        </p:nvSpPr>
        <p:spPr>
          <a:xfrm>
            <a:off x="8046720" y="3090672"/>
            <a:ext cx="3291840" cy="640080"/>
          </a:xfrm>
          <a:prstGeom prst="rect">
            <a:avLst/>
          </a:prstGeom>
          <a:noFill/>
          <a:ln/>
        </p:spPr>
        <p:txBody>
          <a:bodyPr wrap="square" lIns="0" tIns="0" rIns="0" bIns="0" rtlCol="0" anchor="t"/>
          <a:lstStyle/>
          <a:p>
            <a:pPr algn="ctr" indent="0" marL="0">
              <a:buNone/>
            </a:pPr>
            <a:r>
              <a:rPr lang="en-US" sz="1250" dirty="0">
                <a:solidFill>
                  <a:srgbClr val="5A6B78"/>
                </a:solidFill>
                <a:latin typeface="Calibri" pitchFamily="34" charset="0"/>
                <a:ea typeface="Calibri" pitchFamily="34" charset="-122"/>
                <a:cs typeface="Calibri" pitchFamily="34" charset="-120"/>
              </a:rPr>
              <a:t>turbulence proxy (∝ V²)</a:t>
            </a:r>
            <a:endParaRPr lang="en-US" sz="1250" dirty="0"/>
          </a:p>
        </p:txBody>
      </p:sp>
      <p:sp>
        <p:nvSpPr>
          <p:cNvPr id="14" name="Text 12"/>
          <p:cNvSpPr txBox="1"/>
          <p:nvPr/>
        </p:nvSpPr>
        <p:spPr>
          <a:xfrm>
            <a:off x="822960" y="4389120"/>
            <a:ext cx="10515600" cy="365760"/>
          </a:xfrm>
          <a:prstGeom prst="rect">
            <a:avLst/>
          </a:prstGeom>
          <a:noFill/>
          <a:ln/>
        </p:spPr>
        <p:txBody>
          <a:bodyPr wrap="square" lIns="0" tIns="0" rIns="0" bIns="0" rtlCol="0" anchor="t"/>
          <a:lstStyle/>
          <a:p>
            <a:pPr indent="0" marL="0">
              <a:buNone/>
            </a:pPr>
            <a:r>
              <a:rPr lang="en-US" sz="1350" dirty="0">
                <a:solidFill>
                  <a:srgbClr val="15303F"/>
                </a:solidFill>
                <a:latin typeface="Calibri" pitchFamily="34" charset="0"/>
                <a:ea typeface="Calibri" pitchFamily="34" charset="-122"/>
                <a:cs typeface="Calibri" pitchFamily="34" charset="-120"/>
              </a:rPr>
              <a:t>Vent Reynolds number falls 1617 → 1353, so the jet is slower and less turbulent.</a:t>
            </a:r>
            <a:endParaRPr lang="en-US" sz="1350" dirty="0"/>
          </a:p>
        </p:txBody>
      </p:sp>
      <p:sp>
        <p:nvSpPr>
          <p:cNvPr id="15" name="Shape 13"/>
          <p:cNvSpPr/>
          <p:nvPr/>
        </p:nvSpPr>
        <p:spPr>
          <a:xfrm>
            <a:off x="822960" y="4892040"/>
            <a:ext cx="10515600" cy="1234440"/>
          </a:xfrm>
          <a:prstGeom prst="roundRect">
            <a:avLst>
              <a:gd name="adj" fmla="val 6667"/>
            </a:avLst>
          </a:prstGeom>
          <a:solidFill>
            <a:srgbClr val="FFF6E9"/>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16" name="Text 14"/>
          <p:cNvSpPr txBox="1"/>
          <p:nvPr/>
        </p:nvSpPr>
        <p:spPr>
          <a:xfrm>
            <a:off x="1051560" y="5074920"/>
            <a:ext cx="10058400" cy="914400"/>
          </a:xfrm>
          <a:prstGeom prst="rect">
            <a:avLst/>
          </a:prstGeom>
          <a:noFill/>
          <a:ln/>
        </p:spPr>
        <p:txBody>
          <a:bodyPr wrap="square" lIns="0" tIns="0" rIns="0" bIns="0" rtlCol="0" anchor="ctr"/>
          <a:lstStyle/>
          <a:p>
            <a:pPr indent="0" marL="0">
              <a:buNone/>
            </a:pPr>
            <a:r>
              <a:rPr lang="en-US" sz="1350" b="1" dirty="0">
                <a:solidFill>
                  <a:srgbClr val="C1443B"/>
                </a:solidFill>
                <a:latin typeface="Calibri" pitchFamily="34" charset="0"/>
                <a:ea typeface="Calibri" pitchFamily="34" charset="-122"/>
                <a:cs typeface="Calibri" pitchFamily="34" charset="-120"/>
              </a:rPr>
              <a:t>Honest scope:  </a:t>
            </a:r>
            <a:pPr indent="0" marL="0">
              <a:buNone/>
            </a:pPr>
            <a:r>
              <a:rPr lang="en-US" sz="1350" dirty="0">
                <a:solidFill>
                  <a:srgbClr val="15303F"/>
                </a:solidFill>
                <a:latin typeface="Calibri" pitchFamily="34" charset="0"/>
                <a:ea typeface="Calibri" pitchFamily="34" charset="-122"/>
                <a:cs typeface="Calibri" pitchFamily="34" charset="-120"/>
              </a:rPr>
              <a:t>noise is acoustic, so we report it as a velocity / turbulence proxy, not decibels. Even our interviewee finds his premium unit quiet, so the real target is bed-partner disturbance and higher-pressure users.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Before vs After: One Design Change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600200"/>
          <a:ext cx="10698480" cy="914400"/>
        </p:xfrm>
        <a:graphic>
          <a:graphicData uri="http://schemas.openxmlformats.org/drawingml/2006/table">
            <a:tbl>
              <a:tblPr/>
              <a:tblGrid>
                <a:gridCol w="4663440"/>
                <a:gridCol w="2011680"/>
                <a:gridCol w="2011680"/>
                <a:gridCol w="2011680"/>
              </a:tblGrid>
              <a:tr h="658368">
                <a:tc>
                  <a:txBody>
                    <a:bodyPr/>
                    <a:lstStyle/>
                    <a:p>
                      <a:pPr algn="l" indent="0" marL="0">
                        <a:buNone/>
                      </a:pPr>
                      <a:r>
                        <a:rPr lang="en-US" sz="1500" b="1" dirty="0">
                          <a:solidFill>
                            <a:srgbClr val="FFFFFF"/>
                          </a:solidFill>
                          <a:latin typeface="Cambria" pitchFamily="34" charset="0"/>
                          <a:ea typeface="Cambria" pitchFamily="34" charset="-122"/>
                          <a:cs typeface="Cambria" pitchFamily="34" charset="-120"/>
                        </a:rPr>
                        <a:t>Metric</a:t>
                      </a:r>
                      <a:endParaRPr lang="en-US" sz="1500" dirty="0">
                        <a:latin typeface="Cambria" charset="0"/>
                        <a:ea typeface="Cambria" charset="0"/>
                        <a:cs typeface="Cambria"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0B1F3A"/>
                    </a:solidFill>
                  </a:tcPr>
                </a:tc>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Before</a:t>
                      </a:r>
                      <a:endParaRPr lang="en-US" sz="1500" dirty="0">
                        <a:latin typeface="Cambria" charset="0"/>
                        <a:ea typeface="Cambria" charset="0"/>
                        <a:cs typeface="Cambria"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0B1F3A"/>
                    </a:solidFill>
                  </a:tcPr>
                </a:tc>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After</a:t>
                      </a:r>
                      <a:endParaRPr lang="en-US" sz="1500" dirty="0">
                        <a:latin typeface="Cambria" charset="0"/>
                        <a:ea typeface="Cambria" charset="0"/>
                        <a:cs typeface="Cambria"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0B1F3A"/>
                    </a:solidFill>
                  </a:tcPr>
                </a:tc>
                <a:tc>
                  <a:txBody>
                    <a:bodyPr/>
                    <a:lstStyle/>
                    <a:p>
                      <a:pPr algn="ctr" indent="0" marL="0">
                        <a:buNone/>
                      </a:pPr>
                      <a:r>
                        <a:rPr lang="en-US" sz="1500" b="1" dirty="0">
                          <a:solidFill>
                            <a:srgbClr val="FFFFFF"/>
                          </a:solidFill>
                          <a:latin typeface="Cambria" pitchFamily="34" charset="0"/>
                          <a:ea typeface="Cambria" pitchFamily="34" charset="-122"/>
                          <a:cs typeface="Cambria" pitchFamily="34" charset="-120"/>
                        </a:rPr>
                        <a:t>Change</a:t>
                      </a:r>
                      <a:endParaRPr lang="en-US" sz="1500" dirty="0">
                        <a:latin typeface="Cambria" charset="0"/>
                        <a:ea typeface="Cambria" charset="0"/>
                        <a:cs typeface="Cambria"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0B1F3A"/>
                    </a:solidFill>
                  </a:tcPr>
                </a:tc>
              </a:tr>
              <a:tr h="658368">
                <a:tc>
                  <a:txBody>
                    <a:bodyPr/>
                    <a:lstStyle/>
                    <a:p>
                      <a:pPr algn="l" indent="0" marL="0">
                        <a:buNone/>
                      </a:pPr>
                      <a:r>
                        <a:rPr lang="en-US" sz="1500" dirty="0">
                          <a:solidFill>
                            <a:srgbClr val="15303F"/>
                          </a:solidFill>
                        </a:rPr>
                        <a:t>Peak exhalation effort (cmH₂O)</a:t>
                      </a:r>
                      <a:endParaRPr lang="en-US" sz="1500" dirty="0"/>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5303F"/>
                          </a:solidFill>
                          <a:latin typeface="Calibri" pitchFamily="34" charset="0"/>
                          <a:ea typeface="Calibri" pitchFamily="34" charset="-122"/>
                          <a:cs typeface="Calibri" pitchFamily="34" charset="-120"/>
                        </a:rPr>
                        <a:t>8.48</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CA58D"/>
                          </a:solidFill>
                          <a:latin typeface="Calibri" pitchFamily="34" charset="0"/>
                          <a:ea typeface="Calibri" pitchFamily="34" charset="-122"/>
                          <a:cs typeface="Calibri" pitchFamily="34" charset="-120"/>
                        </a:rPr>
                        <a:t>5.48</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CA58D"/>
                          </a:solidFill>
                          <a:latin typeface="Calibri" pitchFamily="34" charset="0"/>
                          <a:ea typeface="Calibri" pitchFamily="34" charset="-122"/>
                          <a:cs typeface="Calibri" pitchFamily="34" charset="-120"/>
                        </a:rPr>
                        <a:t>−35%</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658368">
                <a:tc>
                  <a:txBody>
                    <a:bodyPr/>
                    <a:lstStyle/>
                    <a:p>
                      <a:pPr algn="l" indent="0" marL="0">
                        <a:buNone/>
                      </a:pPr>
                      <a:r>
                        <a:rPr lang="en-US" sz="1500" dirty="0">
                          <a:solidFill>
                            <a:srgbClr val="15303F"/>
                          </a:solidFill>
                        </a:rPr>
                        <a:t>Expiratory work (J/breath)</a:t>
                      </a:r>
                      <a:endParaRPr lang="en-US" sz="1500" dirty="0"/>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5303F"/>
                          </a:solidFill>
                          <a:latin typeface="Calibri" pitchFamily="34" charset="0"/>
                          <a:ea typeface="Calibri" pitchFamily="34" charset="-122"/>
                          <a:cs typeface="Calibri" pitchFamily="34" charset="-120"/>
                        </a:rPr>
                        <a:t>0.41</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CA58D"/>
                          </a:solidFill>
                          <a:latin typeface="Calibri" pitchFamily="34" charset="0"/>
                          <a:ea typeface="Calibri" pitchFamily="34" charset="-122"/>
                          <a:cs typeface="Calibri" pitchFamily="34" charset="-120"/>
                        </a:rPr>
                        <a:t>0.29</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CA58D"/>
                          </a:solidFill>
                          <a:latin typeface="Calibri" pitchFamily="34" charset="0"/>
                          <a:ea typeface="Calibri" pitchFamily="34" charset="-122"/>
                          <a:cs typeface="Calibri" pitchFamily="34" charset="-120"/>
                        </a:rPr>
                        <a:t>−28%</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658368">
                <a:tc>
                  <a:txBody>
                    <a:bodyPr/>
                    <a:lstStyle/>
                    <a:p>
                      <a:pPr algn="l" indent="0" marL="0">
                        <a:buNone/>
                      </a:pPr>
                      <a:r>
                        <a:rPr lang="en-US" sz="1500" dirty="0">
                          <a:solidFill>
                            <a:srgbClr val="15303F"/>
                          </a:solidFill>
                        </a:rPr>
                        <a:t>Vent jet velocity (m/s)</a:t>
                      </a:r>
                      <a:endParaRPr lang="en-US" sz="1500" dirty="0"/>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5303F"/>
                          </a:solidFill>
                          <a:latin typeface="Calibri" pitchFamily="34" charset="0"/>
                          <a:ea typeface="Calibri" pitchFamily="34" charset="-122"/>
                          <a:cs typeface="Calibri" pitchFamily="34" charset="-120"/>
                        </a:rPr>
                        <a:t>24.3</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CA58D"/>
                          </a:solidFill>
                          <a:latin typeface="Calibri" pitchFamily="34" charset="0"/>
                          <a:ea typeface="Calibri" pitchFamily="34" charset="-122"/>
                          <a:cs typeface="Calibri" pitchFamily="34" charset="-120"/>
                        </a:rPr>
                        <a:t>20.3</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CA58D"/>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r h="658368">
                <a:tc>
                  <a:txBody>
                    <a:bodyPr/>
                    <a:lstStyle/>
                    <a:p>
                      <a:pPr algn="l" indent="0" marL="0">
                        <a:buNone/>
                      </a:pPr>
                      <a:r>
                        <a:rPr lang="en-US" sz="1500" dirty="0">
                          <a:solidFill>
                            <a:srgbClr val="15303F"/>
                          </a:solidFill>
                        </a:rPr>
                        <a:t>Vent Reynolds number</a:t>
                      </a:r>
                      <a:endParaRPr lang="en-US" sz="1500" dirty="0"/>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5303F"/>
                          </a:solidFill>
                          <a:latin typeface="Calibri" pitchFamily="34" charset="0"/>
                          <a:ea typeface="Calibri" pitchFamily="34" charset="-122"/>
                          <a:cs typeface="Calibri" pitchFamily="34" charset="-120"/>
                        </a:rPr>
                        <a:t>1617</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CA58D"/>
                          </a:solidFill>
                          <a:latin typeface="Calibri" pitchFamily="34" charset="0"/>
                          <a:ea typeface="Calibri" pitchFamily="34" charset="-122"/>
                          <a:cs typeface="Calibri" pitchFamily="34" charset="-120"/>
                        </a:rPr>
                        <a:t>1353</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CA58D"/>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91440" marR="91440" marT="45720" marB="45720" anchor="ctr">
                    <a:lnL w="12700" cap="flat" cmpd="sng" algn="ctr">
                      <a:solidFill>
                        <a:srgbClr val="D6E2EA"/>
                      </a:solidFill>
                      <a:prstDash val="solid"/>
                      <a:round/>
                      <a:headEnd type="none" w="med" len="med"/>
                      <a:tailEnd type="none" w="med" len="med"/>
                    </a:lnL>
                    <a:lnR w="12700" cap="flat" cmpd="sng" algn="ctr">
                      <a:solidFill>
                        <a:srgbClr val="D6E2EA"/>
                      </a:solidFill>
                      <a:prstDash val="solid"/>
                      <a:round/>
                      <a:headEnd type="none" w="med" len="med"/>
                      <a:tailEnd type="none" w="med" len="med"/>
                    </a:lnR>
                    <a:lnT w="12700" cap="flat" cmpd="sng" algn="ctr">
                      <a:solidFill>
                        <a:srgbClr val="D6E2EA"/>
                      </a:solidFill>
                      <a:prstDash val="solid"/>
                      <a:round/>
                      <a:headEnd type="none" w="med" len="med"/>
                      <a:tailEnd type="none" w="med" len="med"/>
                    </a:lnT>
                    <a:lnB w="12700" cap="flat" cmpd="sng" algn="ctr">
                      <a:solidFill>
                        <a:srgbClr val="D6E2EA"/>
                      </a:solidFill>
                      <a:prstDash val="solid"/>
                      <a:round/>
                      <a:headEnd type="none" w="med" len="med"/>
                      <a:tailEnd type="none" w="med" len="med"/>
                    </a:lnB>
                    <a:solidFill>
                      <a:srgbClr val="FFFFFF"/>
                    </a:solidFill>
                  </a:tcPr>
                </a:tc>
              </a:tr>
            </a:tbl>
          </a:graphicData>
        </a:graphic>
      </p:graphicFrame>
      <p:sp>
        <p:nvSpPr>
          <p:cNvPr id="5" name="Shape 2"/>
          <p:cNvSpPr/>
          <p:nvPr/>
        </p:nvSpPr>
        <p:spPr>
          <a:xfrm>
            <a:off x="731520" y="5394960"/>
            <a:ext cx="10698480" cy="868680"/>
          </a:xfrm>
          <a:prstGeom prst="roundRect">
            <a:avLst>
              <a:gd name="adj" fmla="val 9474"/>
            </a:avLst>
          </a:prstGeom>
          <a:solidFill>
            <a:srgbClr val="E7F5F0"/>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6" name="Text 3"/>
          <p:cNvSpPr txBox="1"/>
          <p:nvPr/>
        </p:nvSpPr>
        <p:spPr>
          <a:xfrm>
            <a:off x="960120" y="5532120"/>
            <a:ext cx="10241280" cy="548640"/>
          </a:xfrm>
          <a:prstGeom prst="rect">
            <a:avLst/>
          </a:prstGeom>
          <a:noFill/>
          <a:ln/>
        </p:spPr>
        <p:txBody>
          <a:bodyPr wrap="square" lIns="0" tIns="0" rIns="0" bIns="0" rtlCol="0" anchor="ctr"/>
          <a:lstStyle/>
          <a:p>
            <a:pPr indent="0" marL="0">
              <a:buNone/>
            </a:pPr>
            <a:r>
              <a:rPr lang="en-US" sz="1500" dirty="0">
                <a:solidFill>
                  <a:srgbClr val="15303F"/>
                </a:solidFill>
                <a:latin typeface="Calibri" pitchFamily="34" charset="0"/>
                <a:ea typeface="Calibri" pitchFamily="34" charset="-122"/>
                <a:cs typeface="Calibri" pitchFamily="34" charset="-120"/>
              </a:rPr>
              <a:t>Every gain above comes from a single change:  </a:t>
            </a:r>
            <a:pPr indent="0" marL="0">
              <a:buNone/>
            </a:pPr>
            <a:r>
              <a:rPr lang="en-US" sz="1500" b="1" dirty="0">
                <a:solidFill>
                  <a:srgbClr val="2CA58D"/>
                </a:solidFill>
                <a:latin typeface="Calibri" pitchFamily="34" charset="0"/>
                <a:ea typeface="Calibri" pitchFamily="34" charset="-122"/>
                <a:cs typeface="Calibri" pitchFamily="34" charset="-120"/>
              </a:rPr>
              <a:t>the flow-triggered expiratory relief valve.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566928"/>
            <a:ext cx="146304" cy="146304"/>
          </a:xfrm>
          <a:prstGeom prst="ellipse">
            <a:avLst/>
          </a:prstGeom>
          <a:solidFill>
            <a:srgbClr val="2CA58D"/>
          </a:solidFill>
          <a:ln/>
        </p:spPr>
        <p:txBody>
          <a:bodyPr/>
          <a:p/>
        </p:txBody>
      </p:sp>
      <p:sp>
        <p:nvSpPr>
          <p:cNvPr id="3" name="Text 1"/>
          <p:cNvSpPr txBox="1"/>
          <p:nvPr/>
        </p:nvSpPr>
        <p:spPr>
          <a:xfrm>
            <a:off x="731520" y="384048"/>
            <a:ext cx="10881360" cy="640080"/>
          </a:xfrm>
          <a:prstGeom prst="rect">
            <a:avLst/>
          </a:prstGeom>
          <a:noFill/>
          <a:ln/>
        </p:spPr>
        <p:txBody>
          <a:bodyPr wrap="square" lIns="0" tIns="0" rIns="0" bIns="0" rtlCol="0" anchor="t"/>
          <a:lstStyle/>
          <a:p>
            <a:pPr indent="0" marL="0">
              <a:buNone/>
            </a:pPr>
            <a:r>
              <a:rPr lang="en-US" sz="3000" b="1" dirty="0">
                <a:solidFill>
                  <a:srgbClr val="0B1F3A"/>
                </a:solidFill>
                <a:latin typeface="Cambria" pitchFamily="34" charset="0"/>
                <a:ea typeface="Cambria" pitchFamily="34" charset="-122"/>
                <a:cs typeface="Cambria" pitchFamily="34" charset="-120"/>
              </a:rPr>
              <a:t>Limitations &amp; Future Work</a:t>
            </a:r>
            <a:endParaRPr lang="en-US" sz="3000" dirty="0"/>
          </a:p>
        </p:txBody>
      </p:sp>
      <p:sp>
        <p:nvSpPr>
          <p:cNvPr id="4" name="Shape 2"/>
          <p:cNvSpPr/>
          <p:nvPr/>
        </p:nvSpPr>
        <p:spPr>
          <a:xfrm>
            <a:off x="731520" y="1463040"/>
            <a:ext cx="5257800" cy="4297680"/>
          </a:xfrm>
          <a:prstGeom prst="roundRect">
            <a:avLst>
              <a:gd name="adj" fmla="val 1915"/>
            </a:avLst>
          </a:prstGeom>
          <a:solidFill>
            <a:srgbClr val="EEF4F8"/>
          </a:solidFill>
          <a:ln w="12700">
            <a:solidFill>
              <a:srgbClr val="D6E2EA"/>
            </a:solidFill>
            <a:prstDash val="solid"/>
          </a:ln>
          <a:effectLst>
            <a:outerShdw sx="100000" sy="100000" kx="0" ky="0" algn="bl" rotWithShape="0" blurRad="76200" dist="25400" dir="5400000">
              <a:srgbClr val="8AA0AE">
                <a:alpha val="35000"/>
              </a:srgbClr>
            </a:outerShdw>
          </a:effectLst>
        </p:spPr>
        <p:txBody>
          <a:bodyPr/>
          <a:p/>
        </p:txBody>
      </p:sp>
      <p:sp>
        <p:nvSpPr>
          <p:cNvPr id="5" name="Text 3"/>
          <p:cNvSpPr txBox="1"/>
          <p:nvPr/>
        </p:nvSpPr>
        <p:spPr>
          <a:xfrm>
            <a:off x="960120" y="1645920"/>
            <a:ext cx="4846320" cy="411480"/>
          </a:xfrm>
          <a:prstGeom prst="rect">
            <a:avLst/>
          </a:prstGeom>
          <a:noFill/>
          <a:ln/>
        </p:spPr>
        <p:txBody>
          <a:bodyPr wrap="square" lIns="0" tIns="0" rIns="0" bIns="0" rtlCol="0" anchor="t"/>
          <a:lstStyle/>
          <a:p>
            <a:pPr indent="0" marL="0">
              <a:buNone/>
            </a:pPr>
            <a:r>
              <a:rPr lang="en-US" sz="1700" b="1" dirty="0">
                <a:solidFill>
                  <a:srgbClr val="065A82"/>
                </a:solidFill>
                <a:latin typeface="Cambria" pitchFamily="34" charset="0"/>
                <a:ea typeface="Cambria" pitchFamily="34" charset="-122"/>
                <a:cs typeface="Cambria" pitchFamily="34" charset="-120"/>
              </a:rPr>
              <a:t>Model limitations</a:t>
            </a:r>
            <a:endParaRPr lang="en-US" sz="1700" dirty="0"/>
          </a:p>
        </p:txBody>
      </p:sp>
      <p:sp>
        <p:nvSpPr>
          <p:cNvPr id="6" name="Text 4"/>
          <p:cNvSpPr txBox="1"/>
          <p:nvPr/>
        </p:nvSpPr>
        <p:spPr>
          <a:xfrm>
            <a:off x="960120" y="2148840"/>
            <a:ext cx="4846320" cy="34747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Single-compartment, linear R and C</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Fixed resistance and compliance</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Noise treated as a velocity proxy, not dB</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Idealized, flow-proportional relief profile</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EPR exists on premium units: our contribution is quantifying it and pairing it with vent-noise reduction</a:t>
            </a:r>
            <a:endParaRPr lang="en-US" sz="1350" dirty="0"/>
          </a:p>
        </p:txBody>
      </p:sp>
      <p:sp>
        <p:nvSpPr>
          <p:cNvPr id="7" name="Shape 5"/>
          <p:cNvSpPr/>
          <p:nvPr/>
        </p:nvSpPr>
        <p:spPr>
          <a:xfrm>
            <a:off x="6217920" y="1463040"/>
            <a:ext cx="5212080" cy="4297680"/>
          </a:xfrm>
          <a:prstGeom prst="roundRect">
            <a:avLst>
              <a:gd name="adj" fmla="val 1915"/>
            </a:avLst>
          </a:prstGeom>
          <a:solidFill>
            <a:srgbClr val="FFF6E9"/>
          </a:solidFill>
          <a:ln w="12700">
            <a:solidFill>
              <a:srgbClr val="D6E2EA"/>
            </a:solidFill>
            <a:prstDash val="solid"/>
          </a:ln>
          <a:effectLst>
            <a:outerShdw sx="100000" sy="100000" kx="0" ky="0" algn="bl" rotWithShape="0" blurRad="76200" dist="25400" dir="5400000">
              <a:srgbClr val="8AA0AE">
                <a:alpha val="35000"/>
              </a:srgbClr>
            </a:outerShdw>
          </a:effectLst>
        </p:spPr>
        <p:txBody>
          <a:bodyPr/>
          <a:p/>
        </p:txBody>
      </p:sp>
      <p:sp>
        <p:nvSpPr>
          <p:cNvPr id="8" name="Text 6"/>
          <p:cNvSpPr txBox="1"/>
          <p:nvPr/>
        </p:nvSpPr>
        <p:spPr>
          <a:xfrm>
            <a:off x="6446520" y="1645920"/>
            <a:ext cx="4754880" cy="411480"/>
          </a:xfrm>
          <a:prstGeom prst="rect">
            <a:avLst/>
          </a:prstGeom>
          <a:noFill/>
          <a:ln/>
        </p:spPr>
        <p:txBody>
          <a:bodyPr wrap="square" lIns="0" tIns="0" rIns="0" bIns="0" rtlCol="0" anchor="t"/>
          <a:lstStyle/>
          <a:p>
            <a:pPr indent="0" marL="0">
              <a:buNone/>
            </a:pPr>
            <a:r>
              <a:rPr lang="en-US" sz="1700" b="1" dirty="0">
                <a:solidFill>
                  <a:srgbClr val="C1443B"/>
                </a:solidFill>
                <a:latin typeface="Cambria" pitchFamily="34" charset="0"/>
                <a:ea typeface="Cambria" pitchFamily="34" charset="-122"/>
                <a:cs typeface="Cambria" pitchFamily="34" charset="-120"/>
              </a:rPr>
              <a:t>Design tradeoffs &amp; next steps</a:t>
            </a:r>
            <a:endParaRPr lang="en-US" sz="1700" dirty="0"/>
          </a:p>
        </p:txBody>
      </p:sp>
      <p:sp>
        <p:nvSpPr>
          <p:cNvPr id="9" name="Text 7"/>
          <p:cNvSpPr txBox="1"/>
          <p:nvPr/>
        </p:nvSpPr>
        <p:spPr>
          <a:xfrm>
            <a:off x="6446520" y="2148840"/>
            <a:ext cx="4754880" cy="34747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Too much relief may trigger central apneas in some patients</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Mouth-breathers can leak more at higher relief</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Future: compact, travel-friendly form factor</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Future: lower-maintenance humidifier / water handling</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Next: sweep relief 0–3 cmH₂O to find the comfort-vs-therapy sweet spot</a:t>
            </a:r>
            <a:endParaRPr lang="en-US" sz="1350" dirty="0"/>
          </a:p>
          <a:p>
            <a:pPr marL="177800" indent="-177800">
              <a:spcAft>
                <a:spcPts val="900"/>
              </a:spcAft>
              <a:buSzPct val="100000"/>
              <a:buChar char="•"/>
            </a:pPr>
            <a:r>
              <a:rPr lang="en-US" sz="1350" dirty="0">
                <a:solidFill>
                  <a:srgbClr val="15303F"/>
                </a:solidFill>
                <a:latin typeface="Calibri" pitchFamily="34" charset="0"/>
                <a:ea typeface="Calibri" pitchFamily="34" charset="-122"/>
                <a:cs typeface="Calibri" pitchFamily="34" charset="-120"/>
              </a:rPr>
              <a:t>Adherence benefit of expiratory relief is unproven (Killick &amp; Marshall 2020): we show reduced effort, not better adherence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22960" y="960120"/>
            <a:ext cx="219456" cy="219456"/>
          </a:xfrm>
          <a:prstGeom prst="ellipse">
            <a:avLst/>
          </a:prstGeom>
          <a:solidFill>
            <a:srgbClr val="2CA58D"/>
          </a:solidFill>
          <a:ln/>
        </p:spPr>
      </p:sp>
      <p:sp>
        <p:nvSpPr>
          <p:cNvPr id="3" name="Text 1"/>
          <p:cNvSpPr txBox="1"/>
          <p:nvPr/>
        </p:nvSpPr>
        <p:spPr>
          <a:xfrm>
            <a:off x="1143000" y="822960"/>
            <a:ext cx="1005840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Takeaways</a:t>
            </a:r>
            <a:endParaRPr lang="en-US" sz="3000" dirty="0"/>
          </a:p>
        </p:txBody>
      </p:sp>
      <p:sp>
        <p:nvSpPr>
          <p:cNvPr id="4" name="Text 2"/>
          <p:cNvSpPr txBox="1"/>
          <p:nvPr/>
        </p:nvSpPr>
        <p:spPr>
          <a:xfrm>
            <a:off x="1143000" y="1600200"/>
            <a:ext cx="10058400" cy="22860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E8F0F6"/>
                </a:solidFill>
                <a:latin typeface="Calibri" pitchFamily="34" charset="0"/>
                <a:ea typeface="Calibri" pitchFamily="34" charset="-122"/>
                <a:cs typeface="Calibri" pitchFamily="34" charset="-120"/>
              </a:rPr>
              <a:t>One buildable valve delivers two measured wins: easier exhalation and a quieter vent.</a:t>
            </a:r>
            <a:endParaRPr lang="en-US" sz="1700" dirty="0"/>
          </a:p>
          <a:p>
            <a:pPr marL="203200" indent="-203200">
              <a:spcAft>
                <a:spcPts val="1000"/>
              </a:spcAft>
              <a:buSzPct val="100000"/>
              <a:buChar char="•"/>
            </a:pPr>
            <a:r>
              <a:rPr lang="en-US" sz="1700" dirty="0">
                <a:solidFill>
                  <a:srgbClr val="E8F0F6"/>
                </a:solidFill>
                <a:latin typeface="Calibri" pitchFamily="34" charset="0"/>
                <a:ea typeface="Calibri" pitchFamily="34" charset="-122"/>
                <a:cs typeface="Calibri" pitchFamily="34" charset="-120"/>
              </a:rPr>
              <a:t>Grounded in a real device (AirSense 11) and a real user, so every number is defensible.</a:t>
            </a:r>
            <a:endParaRPr lang="en-US" sz="1700" dirty="0"/>
          </a:p>
          <a:p>
            <a:pPr marL="203200" indent="-203200">
              <a:buSzPct val="100000"/>
              <a:buChar char="•"/>
            </a:pPr>
            <a:r>
              <a:rPr lang="en-US" sz="1700" dirty="0">
                <a:solidFill>
                  <a:srgbClr val="E8F0F6"/>
                </a:solidFill>
                <a:latin typeface="Calibri" pitchFamily="34" charset="0"/>
                <a:ea typeface="Calibri" pitchFamily="34" charset="-122"/>
                <a:cs typeface="Calibri" pitchFamily="34" charset="-120"/>
              </a:rPr>
              <a:t>Same breathing, less effort, so therapy is preserved, comfort improved.</a:t>
            </a:r>
            <a:endParaRPr lang="en-US" sz="1700" dirty="0"/>
          </a:p>
        </p:txBody>
      </p:sp>
      <p:sp>
        <p:nvSpPr>
          <p:cNvPr id="5" name="Shape 3"/>
          <p:cNvSpPr/>
          <p:nvPr/>
        </p:nvSpPr>
        <p:spPr>
          <a:xfrm>
            <a:off x="1143000" y="4114800"/>
            <a:ext cx="9875520" cy="1737360"/>
          </a:xfrm>
          <a:prstGeom prst="roundRect">
            <a:avLst>
              <a:gd name="adj" fmla="val 4737"/>
            </a:avLst>
          </a:prstGeom>
          <a:solidFill>
            <a:srgbClr val="12365A"/>
          </a:solidFill>
          <a:ln w="12700">
            <a:solidFill>
              <a:srgbClr val="D6E2EA"/>
            </a:solidFill>
            <a:prstDash val="solid"/>
          </a:ln>
          <a:effectLst>
            <a:outerShdw sx="100000" sy="100000" kx="0" ky="0" algn="bl" rotWithShape="0" blurRad="76200" dist="25400" dir="5400000">
              <a:srgbClr val="8AA0AE">
                <a:alpha val="35000"/>
              </a:srgbClr>
            </a:outerShdw>
          </a:effectLst>
        </p:spPr>
      </p:sp>
      <p:sp>
        <p:nvSpPr>
          <p:cNvPr id="6" name="Text 4"/>
          <p:cNvSpPr txBox="1"/>
          <p:nvPr/>
        </p:nvSpPr>
        <p:spPr>
          <a:xfrm>
            <a:off x="1463040" y="4315968"/>
            <a:ext cx="9144000" cy="411480"/>
          </a:xfrm>
          <a:prstGeom prst="rect">
            <a:avLst/>
          </a:prstGeom>
          <a:noFill/>
          <a:ln/>
        </p:spPr>
        <p:txBody>
          <a:bodyPr wrap="square" lIns="0" tIns="0" rIns="0" bIns="0" rtlCol="0" anchor="t"/>
          <a:lstStyle/>
          <a:p>
            <a:pPr indent="0" marL="0">
              <a:buNone/>
            </a:pPr>
            <a:r>
              <a:rPr lang="en-US" sz="1800" b="1" dirty="0">
                <a:solidFill>
                  <a:srgbClr val="2CA58D"/>
                </a:solidFill>
                <a:latin typeface="Cambria" pitchFamily="34" charset="0"/>
                <a:ea typeface="Cambria" pitchFamily="34" charset="-122"/>
                <a:cs typeface="Cambria" pitchFamily="34" charset="-120"/>
              </a:rPr>
              <a:t>Audience vote</a:t>
            </a:r>
            <a:endParaRPr lang="en-US" sz="1800" dirty="0"/>
          </a:p>
        </p:txBody>
      </p:sp>
      <p:sp>
        <p:nvSpPr>
          <p:cNvPr id="7" name="Text 5"/>
          <p:cNvSpPr txBox="1"/>
          <p:nvPr/>
        </p:nvSpPr>
        <p:spPr>
          <a:xfrm>
            <a:off x="1463040" y="4754880"/>
            <a:ext cx="9235440" cy="54864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How much do you think expiratory relief cuts breathing effort: 10%, 25%, or 40%?</a:t>
            </a:r>
            <a:endParaRPr lang="en-US" sz="1600" dirty="0"/>
          </a:p>
        </p:txBody>
      </p:sp>
      <p:sp>
        <p:nvSpPr>
          <p:cNvPr id="8" name="Text 6"/>
          <p:cNvSpPr txBox="1"/>
          <p:nvPr/>
        </p:nvSpPr>
        <p:spPr>
          <a:xfrm>
            <a:off x="1463040" y="5303520"/>
            <a:ext cx="9144000" cy="365760"/>
          </a:xfrm>
          <a:prstGeom prst="rect">
            <a:avLst/>
          </a:prstGeom>
          <a:noFill/>
          <a:ln/>
        </p:spPr>
        <p:txBody>
          <a:bodyPr wrap="square" lIns="0" tIns="0" rIns="0" bIns="0" rtlCol="0" anchor="t"/>
          <a:lstStyle/>
          <a:p>
            <a:pPr indent="0" marL="0">
              <a:buNone/>
            </a:pPr>
            <a:r>
              <a:rPr lang="en-US" sz="1300" i="1" dirty="0">
                <a:solidFill>
                  <a:srgbClr val="9FB6C9"/>
                </a:solidFill>
                <a:latin typeface="Calibri" pitchFamily="34" charset="0"/>
                <a:ea typeface="Calibri" pitchFamily="34" charset="-122"/>
                <a:cs typeface="Calibri" pitchFamily="34" charset="-120"/>
              </a:rPr>
              <a:t>(Our simulation: 35%.)</a:t>
            </a:r>
            <a:endParaRPr lang="en-US" sz="13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Rectangle 1"/>
          <p:cNvSpPr/>
          <p:nvPr/>
        </p:nvSpPr>
        <p:spPr>
          <a:xfrm>
            <a:off x="502920" y="566928"/>
            <a:ext cx="146304" cy="146304"/>
          </a:xfrm>
          <a:prstGeom prst="rect">
            <a:avLst/>
          </a:prstGeom>
          <a:solidFill>
            <a:srgbClr val="2CA5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881360" cy="640080"/>
          </a:xfrm>
          <a:prstGeom prst="rect">
            <a:avLst/>
          </a:prstGeom>
          <a:noFill/>
        </p:spPr>
        <p:txBody>
          <a:bodyPr wrap="square">
            <a:spAutoFit/>
          </a:bodyPr>
          <a:lstStyle/>
          <a:p>
            <a:r>
              <a:rPr sz="3000" b="1">
                <a:solidFill>
                  <a:srgbClr val="0B1F3A"/>
                </a:solidFill>
                <a:latin typeface="Cambria"/>
              </a:rPr>
              <a:t>How the Airway Collapses</a:t>
            </a:r>
          </a:p>
        </p:txBody>
      </p:sp>
      <p:sp>
        <p:nvSpPr>
          <p:cNvPr id="4" name="Rectangle 3"/>
          <p:cNvSpPr/>
          <p:nvPr/>
        </p:nvSpPr>
        <p:spPr>
          <a:xfrm>
            <a:off x="731520" y="1371600"/>
            <a:ext cx="7406640" cy="435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scene1-airway.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86384" y="1426464"/>
            <a:ext cx="7297000" cy="4104000"/>
          </a:xfrm>
          <a:prstGeom prst="rect">
            <a:avLst/>
          </a:prstGeom>
        </p:spPr>
      </p:pic>
      <p:sp>
        <p:nvSpPr>
          <p:cNvPr id="6" name="TextBox 5"/>
          <p:cNvSpPr txBox="1"/>
          <p:nvPr/>
        </p:nvSpPr>
        <p:spPr>
          <a:xfrm>
            <a:off x="786384" y="5560000"/>
            <a:ext cx="7297000" cy="300000"/>
          </a:xfrm>
          <a:prstGeom prst="rect">
            <a:avLst/>
          </a:prstGeom>
          <a:noFill/>
        </p:spPr>
        <p:txBody>
          <a:bodyPr wrap="square">
            <a:spAutoFit/>
          </a:bodyPr>
          <a:lstStyle/>
          <a:p>
            <a:r>
              <a:rPr sz="1150" b="0">
                <a:solidFill>
                  <a:srgbClr val="5A6B78"/>
                </a:solidFill>
                <a:latin typeface="Calibri"/>
              </a:rPr>
              <a:t>Live physiology model, severe OSA, then CPAP on. Interactive version: sleep-apnea-simulation.html</a:t>
            </a:r>
          </a:p>
        </p:txBody>
      </p:sp>
      <p:sp>
        <p:nvSpPr>
          <p:cNvPr id="7" name="Rectangle 6"/>
          <p:cNvSpPr/>
          <p:nvPr/>
        </p:nvSpPr>
        <p:spPr>
          <a:xfrm>
            <a:off x="8321040" y="1371600"/>
            <a:ext cx="3337560" cy="43586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1508760"/>
            <a:ext cx="2990000" cy="420000"/>
          </a:xfrm>
          <a:prstGeom prst="rect">
            <a:avLst/>
          </a:prstGeom>
          <a:noFill/>
        </p:spPr>
        <p:txBody>
          <a:bodyPr wrap="square">
            <a:spAutoFit/>
          </a:bodyPr>
          <a:lstStyle/>
          <a:p>
            <a:r>
              <a:rPr sz="1700" b="1">
                <a:solidFill>
                  <a:srgbClr val="065A82"/>
                </a:solidFill>
                <a:latin typeface="Cambria"/>
              </a:rPr>
              <a:t>What you are seeing</a:t>
            </a:r>
          </a:p>
        </p:txBody>
      </p:sp>
      <p:sp>
        <p:nvSpPr>
          <p:cNvPr id="9" name="TextBox 8"/>
          <p:cNvSpPr txBox="1"/>
          <p:nvPr/>
        </p:nvSpPr>
        <p:spPr>
          <a:xfrm>
            <a:off x="8503920" y="2011680"/>
            <a:ext cx="2990000" cy="3600000"/>
          </a:xfrm>
          <a:prstGeom prst="rect">
            <a:avLst/>
          </a:prstGeom>
          <a:noFill/>
        </p:spPr>
        <p:txBody>
          <a:bodyPr wrap="square">
            <a:spAutoFit/>
          </a:bodyPr>
          <a:lstStyle/>
          <a:p>
            <a:pPr>
              <a:spcAft>
                <a:spcPts val="900"/>
              </a:spcAft>
            </a:pPr>
            <a:r>
              <a:rPr sz="1250" b="0">
                <a:solidFill>
                  <a:srgbClr val="15303F"/>
                </a:solidFill>
                <a:latin typeface="Calibri"/>
              </a:rPr>
              <a:t>Sleep relaxes the airway muscles, so the closing pressure (Pcrit) rises</a:t>
            </a:r>
          </a:p>
          <a:p>
            <a:pPr>
              <a:spcAft>
                <a:spcPts val="900"/>
              </a:spcAft>
            </a:pPr>
            <a:r>
              <a:rPr sz="1250" b="0">
                <a:solidFill>
                  <a:srgbClr val="15303F"/>
                </a:solidFill>
                <a:latin typeface="Calibri"/>
              </a:rPr>
              <a:t>Each breath pulls airway pressure below Pcrit: the walls collapse and the chest works harder with no airflow</a:t>
            </a:r>
          </a:p>
          <a:p>
            <a:pPr>
              <a:spcAft>
                <a:spcPts val="900"/>
              </a:spcAft>
            </a:pPr>
            <a:r>
              <a:rPr sz="1250" b="0">
                <a:solidFill>
                  <a:srgbClr val="15303F"/>
                </a:solidFill>
                <a:latin typeface="Calibri"/>
              </a:rPr>
              <a:t>Oxygen falls, effort climbs, the brain arouses, the patient gasps, and it repeats</a:t>
            </a:r>
          </a:p>
          <a:p>
            <a:pPr>
              <a:spcAft>
                <a:spcPts val="900"/>
              </a:spcAft>
            </a:pPr>
            <a:r>
              <a:rPr sz="1250" b="0">
                <a:solidFill>
                  <a:srgbClr val="15303F"/>
                </a:solidFill>
                <a:latin typeface="Calibri"/>
              </a:rPr>
              <a:t>CPAP raises airway pressure above Pcrit, a pneumatic splint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Rectangle 1"/>
          <p:cNvSpPr/>
          <p:nvPr/>
        </p:nvSpPr>
        <p:spPr>
          <a:xfrm>
            <a:off x="502920" y="566928"/>
            <a:ext cx="146304" cy="146304"/>
          </a:xfrm>
          <a:prstGeom prst="rect">
            <a:avLst/>
          </a:prstGeom>
          <a:solidFill>
            <a:srgbClr val="2CA5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881360" cy="640080"/>
          </a:xfrm>
          <a:prstGeom prst="rect">
            <a:avLst/>
          </a:prstGeom>
          <a:noFill/>
        </p:spPr>
        <p:txBody>
          <a:bodyPr wrap="square">
            <a:spAutoFit/>
          </a:bodyPr>
          <a:lstStyle/>
          <a:p>
            <a:r>
              <a:rPr sz="3000" b="1">
                <a:solidFill>
                  <a:srgbClr val="0B1F3A"/>
                </a:solidFill>
                <a:latin typeface="Cambria"/>
              </a:rPr>
              <a:t>What a Night of OSA Does</a:t>
            </a:r>
          </a:p>
        </p:txBody>
      </p:sp>
      <p:sp>
        <p:nvSpPr>
          <p:cNvPr id="4" name="Rectangle 3"/>
          <p:cNvSpPr/>
          <p:nvPr/>
        </p:nvSpPr>
        <p:spPr>
          <a:xfrm>
            <a:off x="731520" y="1371600"/>
            <a:ext cx="7406640" cy="435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scene2-nigh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86384" y="1426464"/>
            <a:ext cx="7297000" cy="4104000"/>
          </a:xfrm>
          <a:prstGeom prst="rect">
            <a:avLst/>
          </a:prstGeom>
        </p:spPr>
      </p:pic>
      <p:sp>
        <p:nvSpPr>
          <p:cNvPr id="6" name="TextBox 5"/>
          <p:cNvSpPr txBox="1"/>
          <p:nvPr/>
        </p:nvSpPr>
        <p:spPr>
          <a:xfrm>
            <a:off x="786384" y="5560000"/>
            <a:ext cx="7297000" cy="300000"/>
          </a:xfrm>
          <a:prstGeom prst="rect">
            <a:avLst/>
          </a:prstGeom>
          <a:noFill/>
        </p:spPr>
        <p:txBody>
          <a:bodyPr wrap="square">
            <a:spAutoFit/>
          </a:bodyPr>
          <a:lstStyle/>
          <a:p>
            <a:r>
              <a:rPr sz="1150" b="0">
                <a:solidFill>
                  <a:srgbClr val="5A6B78"/>
                </a:solidFill>
                <a:latin typeface="Calibri"/>
              </a:rPr>
              <a:t>Same simulated patient, 8 hours, untreated (top) vs CPAP at 10 cmH2O (bottom). Heart-rate and BP traces are illustrative.</a:t>
            </a:r>
          </a:p>
        </p:txBody>
      </p:sp>
      <p:sp>
        <p:nvSpPr>
          <p:cNvPr id="7" name="Rectangle 6"/>
          <p:cNvSpPr/>
          <p:nvPr/>
        </p:nvSpPr>
        <p:spPr>
          <a:xfrm>
            <a:off x="8321040" y="1371600"/>
            <a:ext cx="3337560" cy="43586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1508760"/>
            <a:ext cx="2990000" cy="420000"/>
          </a:xfrm>
          <a:prstGeom prst="rect">
            <a:avLst/>
          </a:prstGeom>
          <a:noFill/>
        </p:spPr>
        <p:txBody>
          <a:bodyPr wrap="square">
            <a:spAutoFit/>
          </a:bodyPr>
          <a:lstStyle/>
          <a:p>
            <a:r>
              <a:rPr sz="1700" b="1">
                <a:solidFill>
                  <a:srgbClr val="065A82"/>
                </a:solidFill>
                <a:latin typeface="Cambria"/>
              </a:rPr>
              <a:t>What you are seeing</a:t>
            </a:r>
          </a:p>
        </p:txBody>
      </p:sp>
      <p:sp>
        <p:nvSpPr>
          <p:cNvPr id="9" name="TextBox 8"/>
          <p:cNvSpPr txBox="1"/>
          <p:nvPr/>
        </p:nvSpPr>
        <p:spPr>
          <a:xfrm>
            <a:off x="8503920" y="2011680"/>
            <a:ext cx="2990000" cy="3600000"/>
          </a:xfrm>
          <a:prstGeom prst="rect">
            <a:avLst/>
          </a:prstGeom>
          <a:noFill/>
        </p:spPr>
        <p:txBody>
          <a:bodyPr wrap="square">
            <a:spAutoFit/>
          </a:bodyPr>
          <a:lstStyle/>
          <a:p>
            <a:pPr>
              <a:spcAft>
                <a:spcPts val="900"/>
              </a:spcAft>
            </a:pPr>
            <a:r>
              <a:rPr sz="1250" b="0">
                <a:solidFill>
                  <a:srgbClr val="15303F"/>
                </a:solidFill>
                <a:latin typeface="Calibri"/>
              </a:rPr>
              <a:t>Untreated severe OSA in our model: about 50 breathing events per hour</a:t>
            </a:r>
          </a:p>
          <a:p>
            <a:pPr>
              <a:spcAft>
                <a:spcPts val="900"/>
              </a:spcAft>
            </a:pPr>
            <a:r>
              <a:rPr sz="1250" b="0">
                <a:solidFill>
                  <a:srgbClr val="15303F"/>
                </a:solidFill>
                <a:latin typeface="Calibri"/>
              </a:rPr>
              <a:t>Oxygen dips to the mid-70s; sleep is fragmented and deep sleep almost disappears</a:t>
            </a:r>
          </a:p>
          <a:p>
            <a:pPr>
              <a:spcAft>
                <a:spcPts val="900"/>
              </a:spcAft>
            </a:pPr>
            <a:r>
              <a:rPr sz="1250" b="0">
                <a:solidFill>
                  <a:srgbClr val="15303F"/>
                </a:solidFill>
                <a:latin typeface="Calibri"/>
              </a:rPr>
              <a:t>On CPAP the events stop and deep sleep and REM return</a:t>
            </a:r>
          </a:p>
          <a:p>
            <a:pPr>
              <a:spcAft>
                <a:spcPts val="900"/>
              </a:spcAft>
            </a:pPr>
            <a:r>
              <a:rPr sz="1250" b="0">
                <a:solidFill>
                  <a:srgbClr val="15303F"/>
                </a:solidFill>
                <a:latin typeface="Calibri"/>
              </a:rPr>
              <a:t>Untreated OSA is associated with high blood pressure, atrial fibrillation, stroke, daytime sleepiness and drowsy-driving crashes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Rectangle 1"/>
          <p:cNvSpPr/>
          <p:nvPr/>
        </p:nvSpPr>
        <p:spPr>
          <a:xfrm>
            <a:off x="502920" y="566928"/>
            <a:ext cx="146304" cy="146304"/>
          </a:xfrm>
          <a:prstGeom prst="rect">
            <a:avLst/>
          </a:prstGeom>
          <a:solidFill>
            <a:srgbClr val="2CA5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881360" cy="640080"/>
          </a:xfrm>
          <a:prstGeom prst="rect">
            <a:avLst/>
          </a:prstGeom>
          <a:noFill/>
        </p:spPr>
        <p:txBody>
          <a:bodyPr wrap="square">
            <a:spAutoFit/>
          </a:bodyPr>
          <a:lstStyle/>
          <a:p>
            <a:r>
              <a:rPr sz="3000" b="1">
                <a:solidFill>
                  <a:srgbClr val="0B1F3A"/>
                </a:solidFill>
                <a:latin typeface="Cambria"/>
              </a:rPr>
              <a:t>The Relief Valve in Action</a:t>
            </a:r>
          </a:p>
        </p:txBody>
      </p:sp>
      <p:sp>
        <p:nvSpPr>
          <p:cNvPr id="4" name="Rectangle 3"/>
          <p:cNvSpPr/>
          <p:nvPr/>
        </p:nvSpPr>
        <p:spPr>
          <a:xfrm>
            <a:off x="731520" y="1371600"/>
            <a:ext cx="7406640" cy="435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scene3-relief-valv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86384" y="1426464"/>
            <a:ext cx="7297000" cy="4104000"/>
          </a:xfrm>
          <a:prstGeom prst="rect">
            <a:avLst/>
          </a:prstGeom>
        </p:spPr>
      </p:pic>
      <p:sp>
        <p:nvSpPr>
          <p:cNvPr id="6" name="TextBox 5"/>
          <p:cNvSpPr txBox="1"/>
          <p:nvPr/>
        </p:nvSpPr>
        <p:spPr>
          <a:xfrm>
            <a:off x="786384" y="5560000"/>
            <a:ext cx="7297000" cy="300000"/>
          </a:xfrm>
          <a:prstGeom prst="rect">
            <a:avLst/>
          </a:prstGeom>
          <a:noFill/>
        </p:spPr>
        <p:txBody>
          <a:bodyPr wrap="square">
            <a:spAutoFit/>
          </a:bodyPr>
          <a:lstStyle/>
          <a:p>
            <a:r>
              <a:rPr sz="1150" b="0">
                <a:solidFill>
                  <a:srgbClr val="5A6B78"/>
                </a:solidFill>
                <a:latin typeface="Calibri"/>
              </a:rPr>
              <a:t>Live reproduction of the group model (slides 7-10). Every number matches the results slides.</a:t>
            </a:r>
          </a:p>
        </p:txBody>
      </p:sp>
      <p:sp>
        <p:nvSpPr>
          <p:cNvPr id="7" name="Rectangle 6"/>
          <p:cNvSpPr/>
          <p:nvPr/>
        </p:nvSpPr>
        <p:spPr>
          <a:xfrm>
            <a:off x="8321040" y="1371600"/>
            <a:ext cx="3337560" cy="4358640"/>
          </a:xfrm>
          <a:prstGeom prst="rect">
            <a:avLst/>
          </a:prstGeom>
          <a:solidFill>
            <a:srgbClr val="EE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1508760"/>
            <a:ext cx="2990000" cy="420000"/>
          </a:xfrm>
          <a:prstGeom prst="rect">
            <a:avLst/>
          </a:prstGeom>
          <a:noFill/>
        </p:spPr>
        <p:txBody>
          <a:bodyPr wrap="square">
            <a:spAutoFit/>
          </a:bodyPr>
          <a:lstStyle/>
          <a:p>
            <a:r>
              <a:rPr sz="1700" b="1">
                <a:solidFill>
                  <a:srgbClr val="065A82"/>
                </a:solidFill>
                <a:latin typeface="Cambria"/>
              </a:rPr>
              <a:t>What you are seeing</a:t>
            </a:r>
          </a:p>
        </p:txBody>
      </p:sp>
      <p:sp>
        <p:nvSpPr>
          <p:cNvPr id="9" name="TextBox 8"/>
          <p:cNvSpPr txBox="1"/>
          <p:nvPr/>
        </p:nvSpPr>
        <p:spPr>
          <a:xfrm>
            <a:off x="8503920" y="2011680"/>
            <a:ext cx="2990000" cy="3600000"/>
          </a:xfrm>
          <a:prstGeom prst="rect">
            <a:avLst/>
          </a:prstGeom>
          <a:noFill/>
        </p:spPr>
        <p:txBody>
          <a:bodyPr wrap="square">
            <a:spAutoFit/>
          </a:bodyPr>
          <a:lstStyle/>
          <a:p>
            <a:pPr>
              <a:spcAft>
                <a:spcPts val="900"/>
              </a:spcAft>
            </a:pPr>
            <a:r>
              <a:rPr sz="1250" b="0">
                <a:solidFill>
                  <a:srgbClr val="15303F"/>
                </a:solidFill>
                <a:latin typeface="Calibri"/>
              </a:rPr>
              <a:t>Standard CPAP holds one pressure all breath long</a:t>
            </a:r>
          </a:p>
          <a:p>
            <a:pPr>
              <a:spcAft>
                <a:spcPts val="900"/>
              </a:spcAft>
            </a:pPr>
            <a:r>
              <a:rPr sz="1250" b="0">
                <a:solidFill>
                  <a:srgbClr val="15303F"/>
                </a:solidFill>
                <a:latin typeface="Calibri"/>
              </a:rPr>
              <a:t>Our valve drops mask pressure by up to 3 cmH2O during exhalation, then restores it</a:t>
            </a:r>
          </a:p>
          <a:p>
            <a:pPr>
              <a:spcAft>
                <a:spcPts val="900"/>
              </a:spcAft>
            </a:pPr>
            <a:r>
              <a:rPr sz="1250" b="0">
                <a:solidFill>
                  <a:srgbClr val="15303F"/>
                </a:solidFill>
                <a:latin typeface="Calibri"/>
              </a:rPr>
              <a:t>Peak exhalation effort -35%, expiratory work -28%</a:t>
            </a:r>
          </a:p>
          <a:p>
            <a:pPr>
              <a:spcAft>
                <a:spcPts val="900"/>
              </a:spcAft>
            </a:pPr>
            <a:r>
              <a:rPr sz="1250" b="0">
                <a:solidFill>
                  <a:srgbClr val="15303F"/>
                </a:solidFill>
                <a:latin typeface="Calibri"/>
              </a:rPr>
              <a:t>Vent jet 24.3 to 20.3 m/s; tidal volume unchanged, so therapy is preserved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Rectangle 1"/>
          <p:cNvSpPr/>
          <p:nvPr/>
        </p:nvSpPr>
        <p:spPr>
          <a:xfrm>
            <a:off x="502920" y="566928"/>
            <a:ext cx="146304" cy="146304"/>
          </a:xfrm>
          <a:prstGeom prst="rect">
            <a:avLst/>
          </a:prstGeom>
          <a:solidFill>
            <a:srgbClr val="2CA5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881360" cy="640080"/>
          </a:xfrm>
          <a:prstGeom prst="rect">
            <a:avLst/>
          </a:prstGeom>
          <a:noFill/>
        </p:spPr>
        <p:txBody>
          <a:bodyPr wrap="square">
            <a:spAutoFit/>
          </a:bodyPr>
          <a:lstStyle/>
          <a:p>
            <a:r>
              <a:rPr sz="3000" b="1">
                <a:solidFill>
                  <a:srgbClr val="0B1F3A"/>
                </a:solidFill>
                <a:latin typeface="Cambria"/>
              </a:rPr>
              <a:t>Try It Live: Interactive Simulation</a:t>
            </a:r>
          </a:p>
        </p:txBody>
      </p:sp>
      <p:sp>
        <p:nvSpPr>
          <p:cNvPr id="4" name="Rectangle 3"/>
          <p:cNvSpPr/>
          <p:nvPr/>
        </p:nvSpPr>
        <p:spPr>
          <a:xfrm>
            <a:off x="731520" y="1371600"/>
            <a:ext cx="7406640" cy="435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walkthrough.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86384" y="1426464"/>
            <a:ext cx="7297000" cy="4104000"/>
          </a:xfrm>
          <a:prstGeom prst="rect">
            <a:avLst/>
          </a:prstGeom>
        </p:spPr>
      </p:pic>
      <p:sp>
        <p:nvSpPr>
          <p:cNvPr id="6" name="TextBox 5"/>
          <p:cNvSpPr txBox="1"/>
          <p:nvPr/>
        </p:nvSpPr>
        <p:spPr>
          <a:xfrm>
            <a:off x="786384" y="5560000"/>
            <a:ext cx="7297000" cy="300000"/>
          </a:xfrm>
          <a:prstGeom prst="rect">
            <a:avLst/>
          </a:prstGeom>
          <a:noFill/>
        </p:spPr>
        <p:txBody>
          <a:bodyPr wrap="square">
            <a:spAutoFit/>
          </a:bodyPr>
          <a:lstStyle/>
          <a:p>
            <a:r>
              <a:rPr sz="1150" b="0">
                <a:solidFill>
                  <a:srgbClr val="5A6B78"/>
                </a:solidFill>
                <a:latin typeface="Calibri"/>
              </a:rPr>
              <a:t>Full guided tour (2:38), captioned</a:t>
            </a:r>
          </a:p>
        </p:txBody>
      </p:sp>
      <p:sp>
        <p:nvSpPr>
          <p:cNvPr id="7" name="Rectangle 6"/>
          <p:cNvSpPr/>
          <p:nvPr/>
        </p:nvSpPr>
        <p:spPr>
          <a:xfrm>
            <a:off x="8321040" y="1371600"/>
            <a:ext cx="3337560" cy="4358640"/>
          </a:xfrm>
          <a:prstGeom prst="rect">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0" y="1508760"/>
            <a:ext cx="2990000" cy="420000"/>
          </a:xfrm>
          <a:prstGeom prst="rect">
            <a:avLst/>
          </a:prstGeom>
          <a:noFill/>
        </p:spPr>
        <p:txBody>
          <a:bodyPr wrap="square">
            <a:spAutoFit/>
          </a:bodyPr>
          <a:lstStyle/>
          <a:p>
            <a:r>
              <a:rPr sz="1700" b="1">
                <a:solidFill>
                  <a:srgbClr val="C1443B"/>
                </a:solidFill>
                <a:latin typeface="Cambria"/>
              </a:rPr>
              <a:t>Open the simulation</a:t>
            </a:r>
          </a:p>
        </p:txBody>
      </p:sp>
      <p:sp>
        <p:nvSpPr>
          <p:cNvPr id="9" name="TextBox 8"/>
          <p:cNvSpPr txBox="1"/>
          <p:nvPr/>
        </p:nvSpPr>
        <p:spPr>
          <a:xfrm>
            <a:off x="8503920" y="2011680"/>
            <a:ext cx="2990000" cy="3400000"/>
          </a:xfrm>
          <a:prstGeom prst="rect">
            <a:avLst/>
          </a:prstGeom>
          <a:noFill/>
        </p:spPr>
        <p:txBody>
          <a:bodyPr wrap="square">
            <a:spAutoFit/>
          </a:bodyPr>
          <a:lstStyle/>
          <a:p>
            <a:pPr>
              <a:spcAft>
                <a:spcPts val="900"/>
              </a:spcAft>
            </a:pPr>
            <a:r>
              <a:rPr sz="1250" b="0">
                <a:solidFill>
                  <a:srgbClr val="15303F"/>
                </a:solidFill>
                <a:latin typeface="Calibri"/>
              </a:rPr>
              <a:t>Runs in any modern browser, no install, works offline as a single HTML file.</a:t>
            </a:r>
          </a:p>
          <a:p>
            <a:pPr>
              <a:spcAft>
                <a:spcPts val="900"/>
              </a:spcAft>
            </a:pPr>
            <a:r>
              <a:rPr sz="1250" b="0">
                <a:solidFill>
                  <a:srgbClr val="15303F"/>
                </a:solidFill>
                <a:latin typeface="Calibri"/>
              </a:rPr>
              <a:t>Three scenes: how it happens, what it does, our solution. Sliders for patient, CPAP and relief.</a:t>
            </a:r>
          </a:p>
          <a:p>
            <a:pPr>
              <a:spcAft>
                <a:spcPts val="900"/>
              </a:spcAft>
            </a:pPr>
            <a:r>
              <a:rPr sz="1250" b="0">
                <a:solidFill>
                  <a:srgbClr val="15303F"/>
                </a:solidFill>
                <a:latin typeface="Calibri"/>
              </a:rPr>
              <a:t>Live link (after the repo is merged and GitHub Pages is on):</a:t>
            </a:r>
          </a:p>
          <a:p>
            <a:pPr>
              <a:spcAft>
                <a:spcPts val="900"/>
              </a:spcAft>
            </a:pPr>
            <a:r>
              <a:rPr sz="1150" b="0">
                <a:solidFill>
                  <a:srgbClr val="065A82"/>
                </a:solidFill>
                <a:latin typeface="Calibri"/>
                <a:hlinkClick r:id="rId5"/>
              </a:rPr>
              <a:t>jonnyterrero.github.io/BME-Visualizations/biofluid-mechanics/sleep-apnea-simulation.html</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2026-09-28T23:54:21Z</dcterms:created>
  <dcterms:modified xsi:type="dcterms:W3CDTF">2026-09-28T23:54:21Z</dcterms:modified>
</cp:coreProperties>
</file>